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2a61f3681544ffc" /><Relationship Type="http://schemas.openxmlformats.org/officeDocument/2006/relationships/extended-properties" Target="/docProps/app.xml" Id="Rfe4e162e72c74e22" /><Relationship Type="http://schemas.openxmlformats.org/officeDocument/2006/relationships/officeDocument" Target="/ppt/presentation.xml" Id="R4b82965ddec84ceb" /></Relationships>
</file>

<file path=ppt/presentation.xml><?xml version="1.0" encoding="utf-8"?>
<p:presentation xmlns:p="http://schemas.openxmlformats.org/presentationml/2006/main">
  <p:sldMasterIdLst>
    <p:sldMasterId xmlns:r="http://schemas.openxmlformats.org/officeDocument/2006/relationships" id="2147483648" r:id="R984c5ecf5fd8420d"/>
  </p:sldMasterIdLst>
  <p:notesMasterIdLst>
    <p:notesMasterId xmlns:r="http://schemas.openxmlformats.org/officeDocument/2006/relationships" r:id="R5cc2fef685a1435b"/>
  </p:notesMasterIdLst>
  <p:sldIdLst>
    <p:sldId xmlns:r="http://schemas.openxmlformats.org/officeDocument/2006/relationships" id="256" r:id="Reaa339d8d8be4e7e"/>
    <p:sldId xmlns:r="http://schemas.openxmlformats.org/officeDocument/2006/relationships" id="257" r:id="R5bfac8ba65c24545"/>
    <p:sldId xmlns:r="http://schemas.openxmlformats.org/officeDocument/2006/relationships" id="258" r:id="Rc74a4b30809a4b88"/>
    <p:sldId xmlns:r="http://schemas.openxmlformats.org/officeDocument/2006/relationships" id="259" r:id="R24e8169d92994cc6"/>
    <p:sldId xmlns:r="http://schemas.openxmlformats.org/officeDocument/2006/relationships" id="260" r:id="R06aa8f2886cb4ebe"/>
    <p:sldId xmlns:r="http://schemas.openxmlformats.org/officeDocument/2006/relationships" id="261" r:id="R9700dca29adf48a3"/>
    <p:sldId xmlns:r="http://schemas.openxmlformats.org/officeDocument/2006/relationships" id="262" r:id="R1b738be6580c4186"/>
    <p:sldId xmlns:r="http://schemas.openxmlformats.org/officeDocument/2006/relationships" id="263" r:id="Rbb2c8757b99a45da"/>
    <p:sldId xmlns:r="http://schemas.openxmlformats.org/officeDocument/2006/relationships" id="264" r:id="R06cb074563824199"/>
    <p:sldId xmlns:r="http://schemas.openxmlformats.org/officeDocument/2006/relationships" id="265" r:id="Rdcf9ff79311d4b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4f94d785f541e4" /><Relationship Type="http://schemas.openxmlformats.org/officeDocument/2006/relationships/slideMaster" Target="/ppt/slideMasters/slideMaster1.xml" Id="R984c5ecf5fd8420d" /><Relationship Type="http://schemas.openxmlformats.org/officeDocument/2006/relationships/notesMaster" Target="/ppt/notesMasters/notesMaster1.xml" Id="R5cc2fef685a1435b" /><Relationship Type="http://schemas.openxmlformats.org/officeDocument/2006/relationships/presProps" Target="/ppt/presProps.xml" Id="R991241cf387144a7" /><Relationship Type="http://schemas.openxmlformats.org/officeDocument/2006/relationships/tableStyles" Target="/ppt/tableStyles.xml" Id="Rb81a85dca41e4477" /><Relationship Type="http://schemas.openxmlformats.org/officeDocument/2006/relationships/slide" Target="/ppt/slides/slide1.xml" Id="Reaa339d8d8be4e7e" /><Relationship Type="http://schemas.openxmlformats.org/officeDocument/2006/relationships/slide" Target="/ppt/slides/slide2.xml" Id="R5bfac8ba65c24545" /><Relationship Type="http://schemas.openxmlformats.org/officeDocument/2006/relationships/slide" Target="/ppt/slides/slide3.xml" Id="Rc74a4b30809a4b88" /><Relationship Type="http://schemas.openxmlformats.org/officeDocument/2006/relationships/slide" Target="/ppt/slides/slide4.xml" Id="R24e8169d92994cc6" /><Relationship Type="http://schemas.openxmlformats.org/officeDocument/2006/relationships/slide" Target="/ppt/slides/slide5.xml" Id="R06aa8f2886cb4ebe" /><Relationship Type="http://schemas.openxmlformats.org/officeDocument/2006/relationships/slide" Target="/ppt/slides/slide6.xml" Id="R9700dca29adf48a3" /><Relationship Type="http://schemas.openxmlformats.org/officeDocument/2006/relationships/slide" Target="/ppt/slides/slide7.xml" Id="R1b738be6580c4186" /><Relationship Type="http://schemas.openxmlformats.org/officeDocument/2006/relationships/slide" Target="/ppt/slides/slide8.xml" Id="Rbb2c8757b99a45da" /><Relationship Type="http://schemas.openxmlformats.org/officeDocument/2006/relationships/slide" Target="/ppt/slides/slide9.xml" Id="R06cb074563824199" /><Relationship Type="http://schemas.openxmlformats.org/officeDocument/2006/relationships/slide" Target="/ppt/slides/slide10.xml" Id="Rdcf9ff79311d4b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03eab8540d40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9ee32433664264" /><Relationship Type="http://schemas.openxmlformats.org/officeDocument/2006/relationships/notesMaster" Target="/ppt/notesMasters/notesMaster1.xml" Id="R78dc6f7c453b46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28852c9c124843" /><Relationship Type="http://schemas.openxmlformats.org/officeDocument/2006/relationships/notesMaster" Target="/ppt/notesMasters/notesMaster1.xml" Id="R912805e45e6847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33dd8c89af4039" /><Relationship Type="http://schemas.openxmlformats.org/officeDocument/2006/relationships/notesMaster" Target="/ppt/notesMasters/notesMaster1.xml" Id="R5bf6f53142d740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e33896b55047a4" /><Relationship Type="http://schemas.openxmlformats.org/officeDocument/2006/relationships/notesMaster" Target="/ppt/notesMasters/notesMaster1.xml" Id="R371dcfd0b9644ac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f0996a50834b76" /><Relationship Type="http://schemas.openxmlformats.org/officeDocument/2006/relationships/notesMaster" Target="/ppt/notesMasters/notesMaster1.xml" Id="R81d0b23cf6ce44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4156acda0f4f7f" /><Relationship Type="http://schemas.openxmlformats.org/officeDocument/2006/relationships/notesMaster" Target="/ppt/notesMasters/notesMaster1.xml" Id="R48c49744211048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567e419ca7487c" /><Relationship Type="http://schemas.openxmlformats.org/officeDocument/2006/relationships/notesMaster" Target="/ppt/notesMasters/notesMaster1.xml" Id="Rd379622fa6b345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f3378f65ec4738" /><Relationship Type="http://schemas.openxmlformats.org/officeDocument/2006/relationships/notesMaster" Target="/ppt/notesMasters/notesMaster1.xml" Id="Rbe8ba188da424fc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4a50539d7914e5b" /><Relationship Type="http://schemas.openxmlformats.org/officeDocument/2006/relationships/notesMaster" Target="/ppt/notesMasters/notesMaster1.xml" Id="R6c4ae5de73b74f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c57223925d24ba0" /><Relationship Type="http://schemas.openxmlformats.org/officeDocument/2006/relationships/notesMaster" Target="/ppt/notesMasters/notesMaster1.xml" Id="R53c702ae5ec242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ช่วงเวลา 0:00–0:20 / เป้าหมายทั้งชุด 9:30 นาที + เวลาสำรอง 0:30 นาที</a:t>
            </a:r>
          </a:p>
          <a:p xmlns:a="http://schemas.openxmlformats.org/drawingml/2006/main">
            <a:r>
              <a:t/>
            </a:r>
          </a:p>
          <a:p xmlns:a="http://schemas.openxmlformats.org/drawingml/2006/main">
            <a:r>
              <a:t/>
            </a:r>
          </a:p>
          <a:p xmlns:a="http://schemas.openxmlformats.org/drawingml/2006/main">
            <a:r>
              <a:t>สวัสดีครับ โครงการนี้เปรียบเทียบการสร้างชุดทดสอบด้วยอัลกอริทึมสองวิธีและ AI สองเครื่องมือบน Java Defects4J เราจะอธิบายวิธีสร้าง ผล coverage และการตรวจพบบั๊ก แล้วสาธิตการประเมินจริงครบทั้งสี่เทคนิคครับ</a:t>
            </a:r>
          </a:p>
          <a:p xmlns:a="http://schemas.openxmlformats.org/drawingml/2006/main">
            <a:r>
              <a:t/>
            </a:r>
          </a:p>
          <a:p xmlns:a="http://schemas.openxmlformats.org/drawingml/2006/main">
            <a:r>
              <a:t/>
            </a:r>
          </a:p>
          <a:p xmlns:a="http://schemas.openxmlformats.org/drawingml/2006/main">
            <a:r>
              <a:t>หลักฐาน: docs/presentation/PRESENTATION_SLIDES.md; results/master_descriptive_stats.json; results/advanced_analytics.json; docs/reference/SQA_Project_2026_Assignment.pdf หน้า 3 ข้อ 2.2</a:t>
            </a:r>
          </a:p>
          <a:p xmlns:a="http://schemas.openxmlformats.org/drawingml/2006/main">
            <a:r>
              <a:t>Source repository: https://github.com/Bigzzz0/ProjectSQA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ช่วงเวลา 0:20–1:00 / เป้าหมายทั้งชุด 9:30 นาที + เวลาสำรอง 0:30 นาที</a:t>
            </a:r>
          </a:p>
          <a:p xmlns:a="http://schemas.openxmlformats.org/drawingml/2006/main">
            <a:r>
              <a:t/>
            </a:r>
          </a:p>
          <a:p xmlns:a="http://schemas.openxmlformats.org/drawingml/2006/main">
            <a:r>
              <a:t/>
            </a:r>
          </a:p>
          <a:p xmlns:a="http://schemas.openxmlformats.org/drawingml/2006/main">
            <a:r>
              <a:t>โจทย์กำหนดให้ทดสอบกับ Defects4J ทุกรายการ เราจึงทำบัญชีครบ 854 บั๊กใน 17 โครงการสำหรับทั้งสี่เทคนิค รวม 3,416 ช่อง แต่สร้างหรือรับรอง suite ได้ไม่ครบทุกช่อง มีผลประเมิน 2,797 ช่อง และอีก 619 ช่องไม่มี suite เราระบุส่วนที่ขาดไว้ชัดเจน ผลต่อไปจึงอ้างถึง suite ที่มีหลักฐาน ไม่กล่าวว่ารันทดสอบสำเร็จครบทั้ง 3,416 ช่องครับ</a:t>
            </a:r>
          </a:p>
          <a:p xmlns:a="http://schemas.openxmlformats.org/drawingml/2006/main">
            <a:r>
              <a:t/>
            </a:r>
          </a:p>
          <a:p xmlns:a="http://schemas.openxmlformats.org/drawingml/2006/main">
            <a:r>
              <a:t/>
            </a:r>
          </a:p>
          <a:p xmlns:a="http://schemas.openxmlformats.org/drawingml/2006/main">
            <a:r>
              <a:t>หลักฐาน: docs/presentation/PRESENTATION_SLIDES.md; results/master_descriptive_stats.json; results/advanced_analytics.json; docs/reference/SQA_Project_2026_Assignment.pdf หน้า 3 ข้อ 2.2</a:t>
            </a:r>
          </a:p>
          <a:p xmlns:a="http://schemas.openxmlformats.org/drawingml/2006/main">
            <a:r>
              <a:t>Source repository: https://github.com/Bigzzz0/ProjectSQA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ช่วงเวลา 1:00–2:00 / เป้าหมายทั้งชุด 9:30 นาที + เวลาสำรอง 0:30 นาที</a:t>
            </a:r>
          </a:p>
          <a:p xmlns:a="http://schemas.openxmlformats.org/drawingml/2006/main">
            <a:r>
              <a:t/>
            </a:r>
          </a:p>
          <a:p xmlns:a="http://schemas.openxmlformats.org/drawingml/2006/main">
            <a:r>
              <a:t/>
            </a:r>
          </a:p>
          <a:p xmlns:a="http://schemas.openxmlformats.org/drawingml/2006/main">
            <a:r>
              <a:t>Member 1: IPO ลดจำนวนชุดค่าทดสอบด้วยการทำให้แต่ละคู่ค่าปรากฏอย่างน้อยหนึ่งครั้ง เราต้องสร้างโมเดล input และวิธีตรวจผลก่อน จึงสร้าง JUnit แล้วตรวจบน fixed version ตัวรันกลางรับเฉพาะ suite ที่ manifest ยืนยันและ hash ตรง ครอบคลุม 257 บั๊ก การครบคู่ค่าไม่ได้รับประกันว่าจะตรวจพบบั๊กทุกชนิด</a:t>
            </a:r>
          </a:p>
          <a:p xmlns:a="http://schemas.openxmlformats.org/drawingml/2006/main">
            <a:r>
              <a:t/>
            </a:r>
          </a:p>
          <a:p xmlns:a="http://schemas.openxmlformats.org/drawingml/2006/main">
            <a:r>
              <a:t>Member 2: MIO ใน EvoSuite ใช้การค้นหาชุดทดสอบตามเป้าหมาย coverage เราทดลองสาม budgets และสาม seeds และส่ง scaffolding ที่ suite ต้องใช้ด้วย มี suite เข้า benchmark 834 บั๊ก ผล budget เป็นผลระหว่างการสร้าง ส่วน coverage และ FDR ที่นำมาเทียบสี่เทคนิคมาจากตัวรันกลางครับ</a:t>
            </a:r>
          </a:p>
          <a:p xmlns:a="http://schemas.openxmlformats.org/drawingml/2006/main">
            <a:r>
              <a:t/>
            </a:r>
          </a:p>
          <a:p xmlns:a="http://schemas.openxmlformats.org/drawingml/2006/main">
            <a:r>
              <a:t/>
            </a:r>
          </a:p>
          <a:p xmlns:a="http://schemas.openxmlformats.org/drawingml/2006/main">
            <a:r>
              <a:t>หลักฐาน: docs/presentation/PRESENTATION_SLIDES.md; results/master_descriptive_stats.json; results/advanced_analytics.json; docs/reference/SQA_Project_2026_Assignment.pdf หน้า 3 ข้อ 2.2</a:t>
            </a:r>
          </a:p>
          <a:p xmlns:a="http://schemas.openxmlformats.org/drawingml/2006/main">
            <a:r>
              <a:t>Source repository: https://github.com/Bigzzz0/ProjectSQA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ช่วงเวลา 2:00–2:50 / เป้าหมายทั้งชุด 9:30 นาที + เวลาสำรอง 0:30 นาที</a:t>
            </a:r>
          </a:p>
          <a:p xmlns:a="http://schemas.openxmlformats.org/drawingml/2006/main">
            <a:r>
              <a:t/>
            </a:r>
          </a:p>
          <a:p xmlns:a="http://schemas.openxmlformats.org/drawingml/2006/main">
            <a:r>
              <a:t/>
            </a:r>
          </a:p>
          <a:p xmlns:a="http://schemas.openxmlformats.org/drawingml/2006/main">
            <a:r>
              <a:t>AI สองเครื่องมือรับ source code และข้อกำหนดการสร้าง test ผ่าน KKU IntelSphere เราระบุ JUnit 4, package, assertion, boundary และ timeout ชัดเจน และเก็บ prompt จริงกับ suite ที่ได้ไว้ ยกตัวอย่าง prompt ของ Closure-105 ที่ลิงก์นี้ ข้อกำหนดใน prompt ไม่รับประกันว่า output จะคอมไพล์ผ่าน จึงต้องประเมินจริง อีกข้อจำกัดคือบางกรณีให้บริบท defect แก่โมเดล ผลนี้จึงไม่ใช่การค้นหาบั๊กแบบไม่รู้ข้อมูลล่วงหน้าทั้งหมดครับ</a:t>
            </a:r>
          </a:p>
          <a:p xmlns:a="http://schemas.openxmlformats.org/drawingml/2006/main">
            <a:r>
              <a:t/>
            </a:r>
          </a:p>
          <a:p xmlns:a="http://schemas.openxmlformats.org/drawingml/2006/main">
            <a:r>
              <a:t/>
            </a:r>
          </a:p>
          <a:p xmlns:a="http://schemas.openxmlformats.org/drawingml/2006/main">
            <a:r>
              <a:t>หลักฐาน: docs/presentation/PRESENTATION_SLIDES.md; results/master_descriptive_stats.json; results/advanced_analytics.json; docs/reference/SQA_Project_2026_Assignment.pdf หน้า 3 ข้อ 2.2</a:t>
            </a:r>
          </a:p>
          <a:p xmlns:a="http://schemas.openxmlformats.org/drawingml/2006/main">
            <a:r>
              <a:t>Source repository: https://github.com/Bigzzz0/ProjectSQA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ช่วงเวลา 2:50–3:40 / เป้าหมายทั้งชุด 9:30 นาที + เวลาสำรอง 0:30 นาที</a:t>
            </a:r>
          </a:p>
          <a:p xmlns:a="http://schemas.openxmlformats.org/drawingml/2006/main">
            <a:r>
              <a:t/>
            </a:r>
          </a:p>
          <a:p xmlns:a="http://schemas.openxmlformats.org/drawingml/2006/main">
            <a:r>
              <a:t/>
            </a:r>
          </a:p>
          <a:p xmlns:a="http://schemas.openxmlformats.org/drawingml/2006/main">
            <a:r>
              <a:t>เราใช้ suite เดียวกันกับ buggy และ fixed version แล้วนับว่าตรวจพบเมื่อ buggy fail แต่ fixed ผ่าน นับหนึ่งบั๊กต่อเทคนิคแม้มีหลาย target classes ตัวหาร FDR รวม compile error และผลที่ fixed ไม่ผ่านด้วย ส่วน coverage ใช้เฉพาะค่าที่วัดได้และรวม covered กับ total ของ modified classes ก่อน ไม่เปลี่ยน compile error เป็นศูนย์ แต่ละผลมี suite hash และ run ID ให้ย้อนกลับไปดู log ได้ครับ</a:t>
            </a:r>
          </a:p>
          <a:p xmlns:a="http://schemas.openxmlformats.org/drawingml/2006/main">
            <a:r>
              <a:t/>
            </a:r>
          </a:p>
          <a:p xmlns:a="http://schemas.openxmlformats.org/drawingml/2006/main">
            <a:r>
              <a:t/>
            </a:r>
          </a:p>
          <a:p xmlns:a="http://schemas.openxmlformats.org/drawingml/2006/main">
            <a:r>
              <a:t>หลักฐาน: docs/presentation/PRESENTATION_SLIDES.md; results/master_descriptive_stats.json; results/advanced_analytics.json; docs/reference/SQA_Project_2026_Assignment.pdf หน้า 3 ข้อ 2.2</a:t>
            </a:r>
          </a:p>
          <a:p xmlns:a="http://schemas.openxmlformats.org/drawingml/2006/main">
            <a:r>
              <a:t>Source repository: https://github.com/Bigzzz0/ProjectSQA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ช่วงเวลา 3:40–4:30 / เป้าหมายทั้งชุด 9:30 นาที + เวลาสำรอง 0:30 นาที</a:t>
            </a:r>
          </a:p>
          <a:p xmlns:a="http://schemas.openxmlformats.org/drawingml/2006/main">
            <a:r>
              <a:t/>
            </a:r>
          </a:p>
          <a:p xmlns:a="http://schemas.openxmlformats.org/drawingml/2006/main">
            <a:r>
              <a:t/>
            </a:r>
          </a:p>
          <a:p xmlns:a="http://schemas.openxmlformats.org/drawingml/2006/main">
            <a:r>
              <a:t>กราฟนี้แสดงค่าเฉลี่ย line และ branch coverage เฉพาะผลที่มีการวัดจริง Gemini สูงสุดที่ประมาณ 86 และ 80 เปอร์เซ็นต์ ตามด้วย DeepSeek, MIO และ IPO แต่ฐานข้อมูลแต่ละแท่งต่างกัน เช่น DeepSeek วัดได้ 192 บั๊ก ขณะที่ MIO วัดได้ 797 บั๊ก จึงไม่ควรสรุปจากความสูงของแท่งอย่างเดียว และ coverage สูงยังไม่ได้แปลว่า assertion จะตรวจพบบั๊กเสมอไป เดโมจะมีตัวอย่างนี้ครับ</a:t>
            </a:r>
          </a:p>
          <a:p xmlns:a="http://schemas.openxmlformats.org/drawingml/2006/main">
            <a:r>
              <a:t/>
            </a:r>
          </a:p>
          <a:p xmlns:a="http://schemas.openxmlformats.org/drawingml/2006/main">
            <a:r>
              <a:t/>
            </a:r>
          </a:p>
          <a:p xmlns:a="http://schemas.openxmlformats.org/drawingml/2006/main">
            <a:r>
              <a:t>หลักฐาน: docs/presentation/PRESENTATION_SLIDES.md; results/master_descriptive_stats.json; results/advanced_analytics.json; docs/reference/SQA_Project_2026_Assignment.pdf หน้า 3 ข้อ 2.2</a:t>
            </a:r>
          </a:p>
          <a:p xmlns:a="http://schemas.openxmlformats.org/drawingml/2006/main">
            <a:r>
              <a:t>Source repository: https://github.com/Bigzzz0/ProjectSQA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ช่วงเวลา 4:30–5:30 / เป้าหมายทั้งชุด 9:30 นาที + เวลาสำรอง 0:30 นาที</a:t>
            </a:r>
          </a:p>
          <a:p xmlns:a="http://schemas.openxmlformats.org/drawingml/2006/main">
            <a:r>
              <a:t/>
            </a:r>
          </a:p>
          <a:p xmlns:a="http://schemas.openxmlformats.org/drawingml/2006/main">
            <a:r>
              <a:t/>
            </a:r>
          </a:p>
          <a:p xmlns:a="http://schemas.openxmlformats.org/drawingml/2006/main">
            <a:r>
              <a:t>Gemini ตรวจพบจำนวนมากสุด 107 บั๊ก ส่วน IPO มีสัดส่วนตรวจพบสูงสุด 14.40 เปอร์เซ็นต์ แต่ IPO มี suite เพียง 257 บั๊ก จึงเป็นคนละฐานกับ Gemini ที่ 853 บั๊ก อีกด้านหนึ่ง AI มี compile error มาก โดยเฉพาะ DeepSeek 661 จาก 853 คู่ ซึ่งมีผลต่อการใช้งานจริง เมื่อนำผลตรวจพบของทุกเทคนิคมารวมแบบไม่ซ้ำ ได้ 144 บั๊ก แสดงว่าแต่ละเทคนิคช่วยตรวจพบบางกรณีเพิ่มเติมได้ ทั้งนี้ไม่ได้รัน suite ensemble ใหม่ครับ</a:t>
            </a:r>
          </a:p>
          <a:p xmlns:a="http://schemas.openxmlformats.org/drawingml/2006/main">
            <a:r>
              <a:t/>
            </a:r>
          </a:p>
          <a:p xmlns:a="http://schemas.openxmlformats.org/drawingml/2006/main">
            <a:r>
              <a:t/>
            </a:r>
          </a:p>
          <a:p xmlns:a="http://schemas.openxmlformats.org/drawingml/2006/main">
            <a:r>
              <a:t>หลักฐาน: docs/presentation/PRESENTATION_SLIDES.md; results/master_descriptive_stats.json; results/advanced_analytics.json; docs/reference/SQA_Project_2026_Assignment.pdf หน้า 3 ข้อ 2.2</a:t>
            </a:r>
          </a:p>
          <a:p xmlns:a="http://schemas.openxmlformats.org/drawingml/2006/main">
            <a:r>
              <a:t>Source repository: https://github.com/Bigzzz0/ProjectSQA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ช่วงเวลา 5:30–6:20 / เป้าหมายทั้งชุด 9:30 นาที + เวลาสำรอง 0:30 นาที</a:t>
            </a:r>
          </a:p>
          <a:p xmlns:a="http://schemas.openxmlformats.org/drawingml/2006/main">
            <a:r>
              <a:t/>
            </a:r>
          </a:p>
          <a:p xmlns:a="http://schemas.openxmlformats.org/drawingml/2006/main">
            <a:r>
              <a:t/>
            </a:r>
          </a:p>
          <a:p xmlns:a="http://schemas.openxmlformats.org/drawingml/2006/main">
            <a:r>
              <a:t>การเพิ่ม budget ของ MIO ทำให้ coverage ระหว่างสร้างสูงขึ้นในข้อมูลชุดนี้ แต่จำนวน records แต่ละ budget ต่างกัน รายละเอียดแบบจับคู่อยู่ในภาคผนวก ฝั่ง AI Gemini ใช้เวลาเฉลี่ยต่อ record ต่ำกว่า DeepSeek แต่ log ยังเชื่อมกับ benchmark run ไม่ครบ จึงไม่คำนวณต้นทุนต่อบั๊กที่ตรวจพบ ส่วน suite ที่ขาดมีทั้งยังไม่พร้อมสร้างและสร้างล้มเหลว เราเรียนรู้ว่าคุณภาพ input model, oracle และความเข้ากันได้กับ environment สำคัญพอ ๆ กับตัวสร้าง test ครับ</a:t>
            </a:r>
          </a:p>
          <a:p xmlns:a="http://schemas.openxmlformats.org/drawingml/2006/main">
            <a:r>
              <a:t/>
            </a:r>
          </a:p>
          <a:p xmlns:a="http://schemas.openxmlformats.org/drawingml/2006/main">
            <a:r>
              <a:t/>
            </a:r>
          </a:p>
          <a:p xmlns:a="http://schemas.openxmlformats.org/drawingml/2006/main">
            <a:r>
              <a:t>หลักฐาน: docs/presentation/PRESENTATION_SLIDES.md; results/master_descriptive_stats.json; results/advanced_analytics.json; docs/reference/SQA_Project_2026_Assignment.pdf หน้า 3 ข้อ 2.2</a:t>
            </a:r>
          </a:p>
          <a:p xmlns:a="http://schemas.openxmlformats.org/drawingml/2006/main">
            <a:r>
              <a:t>Source repository: https://github.com/Bigzzz0/ProjectSQA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ช่วงเวลา 6:20–8:50 / เป้าหมายทั้งชุด 9:30 นาที + เวลาสำรอง 0:30 นาที</a:t>
            </a:r>
          </a:p>
          <a:p xmlns:a="http://schemas.openxmlformats.org/drawingml/2006/main">
            <a:r>
              <a:t/>
            </a:r>
          </a:p>
          <a:p xmlns:a="http://schemas.openxmlformats.org/drawingml/2006/main">
            <a:r>
              <a:t/>
            </a:r>
          </a:p>
          <a:p xmlns:a="http://schemas.openxmlformats.org/drawingml/2006/main">
            <a:r>
              <a:t>0:00–0:15: “เดโมนี้ใช้ suite ที่สร้างไว้แล้วมารันประเมินใหม่ครบสี่เทคนิค” เริ่มสคริปต์ใน terminal ที่เตรียมไว้</a:t>
            </a:r>
          </a:p>
          <a:p xmlns:a="http://schemas.openxmlformats.org/drawingml/2006/main">
            <a:r>
              <a:t/>
            </a:r>
          </a:p>
          <a:p xmlns:a="http://schemas.openxmlformats.org/drawingml/2006/main">
            <a:r>
              <a:t>0:15–1:40: ระหว่างรัน ชี้ไฟล์ suite และอธิบายว่าตัวรันใช้ buggy/fixed ตรวจผลเดียวกัน เปิด log หรือ source ที่เตรียมไว้เฉพาะจุด ไม่อ่าน output ทุกบรรทัด เจ้าของแต่ละเทคนิคช่วยอธิบายเมื่อกรณีของตนแสดงผล</a:t>
            </a:r>
          </a:p>
          <a:p xmlns:a="http://schemas.openxmlformats.org/drawingml/2006/main">
            <a:r>
              <a:t/>
            </a:r>
          </a:p>
          <a:p xmlns:a="http://schemas.openxmlformats.org/drawingml/2006/main">
            <a:r>
              <a:t>1:40–2:15: เมื่อผลออกครบ ชี้หนึ่งกรณี BUG_DETECTED และกรณี MIO ที่ line coverage 93.35% ในรอบก่อนแต่ไม่ตรวจพบบั๊ก เพื่ออธิบายความต่างระหว่าง coverage กับ fault detection ตรวจ run ID/hash ที่ output จริง</a:t>
            </a:r>
          </a:p>
          <a:p xmlns:a="http://schemas.openxmlformats.org/drawingml/2006/main">
            <a:r>
              <a:t/>
            </a:r>
          </a:p>
          <a:p xmlns:a="http://schemas.openxmlformats.org/drawingml/2006/main">
            <a:r>
              <a:t>2:15–2:30: “ผลนี้แสดงขั้นตอนประเมินจริงสี่กรณี ส่วนผลรวม 854 บั๊กดูได้ใน master dataset” แล้วกลับหน้าสรุป</a:t>
            </a:r>
          </a:p>
          <a:p xmlns:a="http://schemas.openxmlformats.org/drawingml/2006/main">
            <a:r>
              <a:t/>
            </a:r>
          </a:p>
          <a:p xmlns:a="http://schemas.openxmlformats.org/drawingml/2006/main">
            <a:r>
              <a:t>จุดเปลี่ยนแผน: หากถึง 2:00 นาทีของช่วงเดโมแล้วยังรันไม่ครบ หรือระบบมี error ให้แสดงไฟล์ผลที่บันทึกไว้ตาม [คู่มือเดโม](../demo/DEMO_GUIDE.md) และพูดให้ชัดว่าเป็นผลรอบก่อน เปิดผลครบสี่เทคนิคแล้วกลับสไลด์ภายใน 2:30 นาที ไม่ปิด terminal กลางคันเพราะสคริปต์ต้องคืนไฟล์เดิมหลังจบ</a:t>
            </a:r>
          </a:p>
          <a:p xmlns:a="http://schemas.openxmlformats.org/drawingml/2006/main">
            <a:r>
              <a:t/>
            </a:r>
          </a:p>
          <a:p xmlns:a="http://schemas.openxmlformats.org/drawingml/2006/main">
            <a:r>
              <a:t/>
            </a:r>
          </a:p>
          <a:p xmlns:a="http://schemas.openxmlformats.org/drawingml/2006/main">
            <a:r>
              <a:t>หลักฐาน: docs/presentation/PRESENTATION_SLIDES.md; results/master_descriptive_stats.json; results/advanced_analytics.json; docs/reference/SQA_Project_2026_Assignment.pdf หน้า 3 ข้อ 2.2</a:t>
            </a:r>
          </a:p>
          <a:p xmlns:a="http://schemas.openxmlformats.org/drawingml/2006/main">
            <a:r>
              <a:t>Source repository: https://github.com/Bigzzz0/ProjectSQA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ช่วงเวลา 8:50–9:30 / เป้าหมายทั้งชุด 9:30 นาที + เวลาสำรอง 0:30 นาที</a:t>
            </a:r>
          </a:p>
          <a:p xmlns:a="http://schemas.openxmlformats.org/drawingml/2006/main">
            <a:r>
              <a:t/>
            </a:r>
          </a:p>
          <a:p xmlns:a="http://schemas.openxmlformats.org/drawingml/2006/main">
            <a:r>
              <a:t/>
            </a:r>
          </a:p>
          <a:p xmlns:a="http://schemas.openxmlformats.org/drawingml/2006/main">
            <a:r>
              <a:t>สิ่งที่ได้เรียนรู้คือ coverage วัดว่า test เข้าไปถึงโค้ดมากแค่ไหน ส่วนการตรวจพบบั๊กต้องมี assertion ที่แยก buggy กับ fixed ได้ด้วย ผลของชุดนี้ Gemini มี coverage เฉลี่ยสูงสุด ส่วน IPO มี FDR ต่อ suite สูงสุด แต่ทั้งคู่มีข้อจำกัดต่างกัน เราเก็บ source, tests, prompt, configuration และ log พร้อมขั้นตอนรันไว้ใน GitHub เพื่อให้ตรวจและทำซ้ำได้ ขอบคุณครับ</a:t>
            </a:r>
          </a:p>
          <a:p xmlns:a="http://schemas.openxmlformats.org/drawingml/2006/main">
            <a:r>
              <a:t/>
            </a:r>
          </a:p>
          <a:p xmlns:a="http://schemas.openxmlformats.org/drawingml/2006/main">
            <a:r>
              <a:t/>
            </a:r>
          </a:p>
          <a:p xmlns:a="http://schemas.openxmlformats.org/drawingml/2006/main">
            <a:r>
              <a:t>หลักฐาน: docs/presentation/PRESENTATION_SLIDES.md; results/master_descriptive_stats.json; results/advanced_analytics.json; docs/reference/SQA_Project_2026_Assignment.pdf หน้า 3 ข้อ 2.2</a:t>
            </a:r>
          </a:p>
          <a:p xmlns:a="http://schemas.openxmlformats.org/drawingml/2006/main">
            <a:r>
              <a:t>Source repository: https://github.com/Bigzzz0/ProjectSQA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0f21e8b5a245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6c61db42994b31" /><Relationship Type="http://schemas.openxmlformats.org/officeDocument/2006/relationships/slideLayout" Target="/ppt/slideLayouts/slideLayout1.xml" Id="R76219e8ce2bf48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219e8ce2bf48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625039afe44de1" /><Relationship Type="http://schemas.openxmlformats.org/officeDocument/2006/relationships/image" Target="/ppt/media/image.png" Id="R8b5f9fe0b5fe428f" /><Relationship Type="http://schemas.openxmlformats.org/officeDocument/2006/relationships/notesSlide" Target="/ppt/notesSlides/notesSlide1.xml" Id="R5696b1639d2f47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6ed4ac03fce4846" /><Relationship Type="http://schemas.openxmlformats.org/officeDocument/2006/relationships/notesSlide" Target="/ppt/notesSlides/notesSlide2.xml" Id="Rd9e41e1015c945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1d56b74ae948a9" /><Relationship Type="http://schemas.openxmlformats.org/officeDocument/2006/relationships/notesSlide" Target="/ppt/notesSlides/notesSlide3.xml" Id="R2fe91d8213714d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f0892d65f0e4e40" /><Relationship Type="http://schemas.openxmlformats.org/officeDocument/2006/relationships/notesSlide" Target="/ppt/notesSlides/notesSlide4.xml" Id="R954e456fd9f94d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af48f6c085e4cc0" /><Relationship Type="http://schemas.openxmlformats.org/officeDocument/2006/relationships/notesSlide" Target="/ppt/notesSlides/notesSlide5.xml" Id="R6f3b6a6e35334e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41a797eb67940c1" /><Relationship Type="http://schemas.openxmlformats.org/officeDocument/2006/relationships/chart" Target="/ppt/slides/charts/chart1.xml" Id="Ree22cc26c9cf4798" /><Relationship Type="http://schemas.openxmlformats.org/officeDocument/2006/relationships/notesSlide" Target="/ppt/notesSlides/notesSlide6.xml" Id="Rd0a16f25179f42d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f319657b22c4f08" /><Relationship Type="http://schemas.openxmlformats.org/officeDocument/2006/relationships/notesSlide" Target="/ppt/notesSlides/notesSlide7.xml" Id="R22d28334adf14c6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4cea81b69364aa4" /><Relationship Type="http://schemas.openxmlformats.org/officeDocument/2006/relationships/notesSlide" Target="/ppt/notesSlides/notesSlide8.xml" Id="R888baec48d1644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410e37ce49d40f5" /><Relationship Type="http://schemas.openxmlformats.org/officeDocument/2006/relationships/notesSlide" Target="/ppt/notesSlides/notesSlide9.xml" Id="R92d48e6decec48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d895002af864357" /><Relationship Type="http://schemas.openxmlformats.org/officeDocument/2006/relationships/notesSlide" Target="/ppt/notesSlides/notesSlide10.xml" Id="R04f21ac095204bd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Line (%)</c:v>
          </c:tx>
          <c:spPr>
            <a:solidFill xmlns:a="http://schemas.openxmlformats.org/drawingml/2006/main">
              <a:srgbClr val="087E83"/>
            </a:solidFill>
          </c:spPr>
          <c:cat>
            <c:strRef>
              <c:f>'Chart Data'!$A$2:$A$5</c:f>
              <c:strCache>
                <c:ptCount val="4"/>
                <c:pt idx="0">
                  <c:v>IPO
(n=252)</c:v>
                </c:pt>
                <c:pt idx="1">
                  <c:v>MIO
(n=797)</c:v>
                </c:pt>
                <c:pt idx="2">
                  <c:v>DeepSeek
(n=192)</c:v>
                </c:pt>
                <c:pt idx="3">
                  <c:v>Gemini
(n=424)</c:v>
                </c:pt>
              </c:strCache>
            </c:strRef>
          </c:cat>
          <c:val>
            <c:numRef>
              <c:f>'Chart Data'!$B$2:$B$5</c:f>
              <c:numCache>
                <c:formatCode>General</c:formatCode>
                <c:ptCount val="4"/>
                <c:pt idx="0">
                  <c:v>26.76</c:v>
                </c:pt>
                <c:pt idx="1">
                  <c:v>63.85</c:v>
                </c:pt>
                <c:pt idx="2">
                  <c:v>78.02</c:v>
                </c:pt>
                <c:pt idx="3">
                  <c:v>86.29</c:v>
                </c:pt>
              </c:numCache>
            </c:numRef>
          </c:val>
        </c:ser>
        <c:ser>
          <c:idx val="1"/>
          <c:order val="1"/>
          <c:tx>
            <c:v>Branch (%)</c:v>
          </c:tx>
          <c:spPr>
            <a:solidFill xmlns:a="http://schemas.openxmlformats.org/drawingml/2006/main">
              <a:srgbClr val="BC5A43"/>
            </a:solidFill>
          </c:spPr>
          <c:cat>
            <c:strRef>
              <c:f>'Chart Data'!$C$2:$C$5</c:f>
              <c:strCache>
                <c:ptCount val="4"/>
                <c:pt idx="0">
                  <c:v>IPO
(n=252)</c:v>
                </c:pt>
                <c:pt idx="1">
                  <c:v>MIO
(n=797)</c:v>
                </c:pt>
                <c:pt idx="2">
                  <c:v>DeepSeek
(n=192)</c:v>
                </c:pt>
                <c:pt idx="3">
                  <c:v>Gemini
(n=424)</c:v>
                </c:pt>
              </c:strCache>
            </c:strRef>
          </c:cat>
          <c:val>
            <c:numRef>
              <c:f>'Chart Data'!$D$2:$D$5</c:f>
              <c:numCache>
                <c:formatCode>General</c:formatCode>
                <c:ptCount val="4"/>
                <c:pt idx="0">
                  <c:v>18.67</c:v>
                </c:pt>
                <c:pt idx="1">
                  <c:v>56.51</c:v>
                </c:pt>
                <c:pt idx="2">
                  <c:v>70.22</c:v>
                </c:pt>
                <c:pt idx="3">
                  <c:v>79.54</c:v>
                </c:pt>
              </c:numCache>
            </c:numRef>
          </c:val>
        </c:ser>
        <c:dLbls>
          <c:txPr>
            <a:bodyPr xmlns:a="http://schemas.openxmlformats.org/drawingml/2006/main" anchorCtr="1"/>
            <a:lstStyle xmlns:a="http://schemas.openxmlformats.org/drawingml/2006/main"/>
            <a:p xmlns:a="http://schemas.openxmlformats.org/drawingml/2006/main">
              <a:pPr>
                <a:defRPr sz="1725" b="1">
                  <a:latin typeface="Leelawadee UI"/>
                  <a:ea typeface="Leelawadee UI"/>
                  <a:cs typeface="Leelawadee UI"/>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6B7BE"/>
            </a:solidFill>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Leelawadee UI"/>
                <a:ea typeface="Leelawadee UI"/>
                <a:cs typeface="Leelawadee UI"/>
              </a:defRPr>
            </a:pPr>
          </a:p>
        </c:txPr>
        <c:crossAx val="48672768"/>
      </c:catAx>
      <c:valAx>
        <c:axId val="48672768"/>
        <c:scaling>
          <c:orientation val="minMax"/>
          <c:max val="100"/>
          <c:min val="0"/>
        </c:scaling>
        <c:delete val="0"/>
        <c:axPos val="l"/>
        <c:majorGridlines>
          <c:spPr>
            <a:ln xmlns:a="http://schemas.openxmlformats.org/drawingml/2006/main" w="9525">
              <a:solidFill>
                <a:srgbClr val="DCE5E5"/>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Leelawadee UI"/>
                <a:ea typeface="Leelawadee UI"/>
                <a:cs typeface="Leelawadee UI"/>
              </a:defRPr>
            </a:pPr>
          </a:p>
        </c:txPr>
        <c:crossAx val="48650112"/>
        <c:crossBetween val="between"/>
        <c:majorUnit val="20"/>
      </c:valAx>
      <c:spPr>
        <a:solidFill xmlns:a="http://schemas.openxmlformats.org/drawingml/2006/main">
          <a:srgbClr val="F7F9F8"/>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latin typeface="Leelawadee UI"/>
              <a:ea typeface="Leelawadee UI"/>
              <a:cs typeface="Leelawadee UI"/>
            </a:defRPr>
          </a:pPr>
        </a:p>
      </c:txPr>
    </c:legend>
    <c:plotVisOnly val="1"/>
  </c:chart>
  <c:spPr>
    <a:solidFill xmlns:a="http://schemas.openxmlformats.org/drawingml/2006/main">
      <a:srgbClr val="F7F9F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06D2F1-6E4F-44D3-9DAE-159CAF8AF9F8}"/>
              </a:ext>
            </a:extLst>
          </p:cNvPr>
          <p:cNvSpPr>
            <a:spLocks xmlns:a="http://schemas.openxmlformats.org/drawingml/2006/main" noGrp="1"/>
          </p:cNvSpPr>
          <p:nvPr/>
        </p:nvSpPr>
        <p:spPr>
          <a:xfrm xmlns:a="http://schemas.openxmlformats.org/drawingml/2006/main">
            <a:off x="609600" y="4381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83244"/>
                </a:solidFill>
                <a:latin typeface="Leelawadee UI"/>
                <a:ea typeface="Leelawadee UI"/>
                <a:cs typeface="Leelawadee UI"/>
              </a:defRPr>
            </a:pPr>
            <a:r>
              <a:rPr sz="3300" b="1">
                <a:solidFill>
                  <a:srgbClr val="183244"/>
                </a:solidFill>
                <a:latin typeface="Leelawadee UI"/>
                <a:ea typeface="Leelawadee UI"/>
                <a:cs typeface="Leelawadee UI"/>
              </a:rPr>
              <a:t>การสร้างชุดทดสอบอัตโนมัติ</a:t>
            </a:r>
          </a:p>
        </p:txBody>
      </p:sp>
      <p:sp>
        <p:nvSpPr>
          <p:cNvPr id="2" name="">
            <a:extLst xmlns:a="http://schemas.openxmlformats.org/drawingml/2006/main">
              <a:ext uri="{FF2B5EF4-FFF2-40B4-BE49-F238E27FC236}">
                <a16:creationId xmlns:a16="http://schemas.microsoft.com/office/drawing/2014/main" id="{990DEE1F-AA35-4FBB-AE25-AF52DB590900}"/>
              </a:ext>
            </a:extLst>
          </p:cNvPr>
          <p:cNvSpPr>
            <a:spLocks xmlns:a="http://schemas.openxmlformats.org/drawingml/2006/main" noGrp="1"/>
          </p:cNvSpPr>
          <p:nvPr/>
        </p:nvSpPr>
        <p:spPr>
          <a:xfrm xmlns:a="http://schemas.openxmlformats.org/drawingml/2006/main">
            <a:off x="609600" y="630555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8707D"/>
                </a:solidFill>
                <a:latin typeface="Leelawadee UI"/>
                <a:ea typeface="Leelawadee UI"/>
                <a:cs typeface="Leelawadee UI"/>
              </a:defRPr>
            </a:pPr>
            <a:r>
              <a:rPr sz="1725" b="0">
                <a:solidFill>
                  <a:srgbClr val="58707D"/>
                </a:solidFill>
                <a:latin typeface="Leelawadee UI"/>
                <a:ea typeface="Leelawadee UI"/>
                <a:cs typeface="Leelawadee UI"/>
              </a:rPr>
              <a:t>CP353201 Software Quality Assurance · มหาวิทยาลัยขอนแก่น   |   01 / 10</a:t>
            </a:r>
          </a:p>
        </p:txBody>
      </p:sp>
      <p:sp>
        <p:nvSpPr>
          <p:cNvPr id="3" name="">
            <a:extLst xmlns:a="http://schemas.openxmlformats.org/drawingml/2006/main">
              <a:ext uri="{FF2B5EF4-FFF2-40B4-BE49-F238E27FC236}">
                <a16:creationId xmlns:a16="http://schemas.microsoft.com/office/drawing/2014/main" id="{166CF8DB-4815-4AE9-ADC7-E6DCF70CAE1A}"/>
              </a:ext>
            </a:extLst>
          </p:cNvPr>
          <p:cNvSpPr>
            <a:spLocks xmlns:a="http://schemas.openxmlformats.org/drawingml/2006/main" noGrp="1"/>
          </p:cNvSpPr>
          <p:nvPr/>
        </p:nvSpPr>
        <p:spPr>
          <a:xfrm xmlns:a="http://schemas.openxmlformats.org/drawingml/2006/main">
            <a:off x="609600" y="1352550"/>
            <a:ext cx="8096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200" b="1">
                <a:solidFill>
                  <a:srgbClr val="183244"/>
                </a:solidFill>
                <a:latin typeface="Leelawadee UI"/>
                <a:ea typeface="Leelawadee UI"/>
                <a:cs typeface="Leelawadee UI"/>
              </a:defRPr>
            </a:pPr>
            <a:r>
              <a:rPr sz="4200" b="1">
                <a:solidFill>
                  <a:srgbClr val="183244"/>
                </a:solidFill>
                <a:latin typeface="Leelawadee UI"/>
                <a:ea typeface="Leelawadee UI"/>
                <a:cs typeface="Leelawadee UI"/>
              </a:rPr>
              <a:t>เปรียบเทียบ 4 เทคนิค</a:t>
            </a:r>
          </a:p>
          <a:p xmlns:a="http://schemas.openxmlformats.org/drawingml/2006/main">
            <a:pPr algn="l">
              <a:defRPr sz="4200" b="1">
                <a:solidFill>
                  <a:srgbClr val="183244"/>
                </a:solidFill>
                <a:latin typeface="Leelawadee UI"/>
                <a:ea typeface="Leelawadee UI"/>
                <a:cs typeface="Leelawadee UI"/>
              </a:defRPr>
            </a:pPr>
            <a:r>
              <a:rPr sz="4200" b="1">
                <a:solidFill>
                  <a:srgbClr val="183244"/>
                </a:solidFill>
                <a:latin typeface="Leelawadee UI"/>
                <a:ea typeface="Leelawadee UI"/>
                <a:cs typeface="Leelawadee UI"/>
              </a:rPr>
              <a:t>บน Java Defects4J</a:t>
            </a:r>
          </a:p>
        </p:txBody>
      </p:sp>
      <p:sp>
        <p:nvSpPr>
          <p:cNvPr id="4" name="">
            <a:extLst xmlns:a="http://schemas.openxmlformats.org/drawingml/2006/main">
              <a:ext uri="{FF2B5EF4-FFF2-40B4-BE49-F238E27FC236}">
                <a16:creationId xmlns:a16="http://schemas.microsoft.com/office/drawing/2014/main" id="{149B2E00-B654-480B-8877-9A2E4E0A321B}"/>
              </a:ext>
            </a:extLst>
          </p:cNvPr>
          <p:cNvSpPr>
            <a:spLocks xmlns:a="http://schemas.openxmlformats.org/drawingml/2006/main" noGrp="1"/>
          </p:cNvSpPr>
          <p:nvPr/>
        </p:nvSpPr>
        <p:spPr>
          <a:xfrm xmlns:a="http://schemas.openxmlformats.org/drawingml/2006/main">
            <a:off x="609600" y="3124200"/>
            <a:ext cx="8763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087E83"/>
                </a:solidFill>
                <a:latin typeface="Leelawadee UI"/>
                <a:ea typeface="Leelawadee UI"/>
                <a:cs typeface="Leelawadee UI"/>
              </a:defRPr>
            </a:pPr>
            <a:r>
              <a:rPr sz="2400" b="0">
                <a:solidFill>
                  <a:srgbClr val="087E83"/>
                </a:solidFill>
                <a:latin typeface="Leelawadee UI"/>
                <a:ea typeface="Leelawadee UI"/>
                <a:cs typeface="Leelawadee UI"/>
              </a:rPr>
              <a:t>Native IPO  ·  MIO / EvoSuite</a:t>
            </a:r>
          </a:p>
          <a:p xmlns:a="http://schemas.openxmlformats.org/drawingml/2006/main">
            <a:pPr algn="l">
              <a:defRPr sz="2400" b="0">
                <a:solidFill>
                  <a:srgbClr val="087E83"/>
                </a:solidFill>
                <a:latin typeface="Leelawadee UI"/>
                <a:ea typeface="Leelawadee UI"/>
                <a:cs typeface="Leelawadee UI"/>
              </a:defRPr>
            </a:pPr>
            <a:r>
              <a:rPr sz="2400" b="0">
                <a:solidFill>
                  <a:srgbClr val="087E83"/>
                </a:solidFill>
                <a:latin typeface="Leelawadee UI"/>
                <a:ea typeface="Leelawadee UI"/>
                <a:cs typeface="Leelawadee UI"/>
              </a:rPr>
              <a:t>DeepSeek V4 Flash  ·  Gemini 3.8 Flash</a:t>
            </a:r>
          </a:p>
        </p:txBody>
      </p:sp>
      <p:sp>
        <p:nvSpPr>
          <p:cNvPr id="5" name="">
            <a:extLst xmlns:a="http://schemas.openxmlformats.org/drawingml/2006/main">
              <a:ext uri="{FF2B5EF4-FFF2-40B4-BE49-F238E27FC236}">
                <a16:creationId xmlns:a16="http://schemas.microsoft.com/office/drawing/2014/main" id="{58EF2C2A-E540-4A81-A160-247DC8C9FAA3}"/>
              </a:ext>
            </a:extLst>
          </p:cNvPr>
          <p:cNvSpPr>
            <a:spLocks xmlns:a="http://schemas.openxmlformats.org/drawingml/2006/main" noGrp="1"/>
          </p:cNvSpPr>
          <p:nvPr/>
        </p:nvSpPr>
        <p:spPr>
          <a:xfrm xmlns:a="http://schemas.openxmlformats.org/drawingml/2006/main">
            <a:off x="609600" y="4381500"/>
            <a:ext cx="89535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83244"/>
                </a:solidFill>
                <a:latin typeface="Leelawadee UI"/>
                <a:ea typeface="Leelawadee UI"/>
                <a:cs typeface="Leelawadee UI"/>
              </a:defRPr>
            </a:pPr>
            <a:r>
              <a:rPr sz="2025" b="0">
                <a:solidFill>
                  <a:srgbClr val="183244"/>
                </a:solidFill>
                <a:latin typeface="Leelawadee UI"/>
                <a:ea typeface="Leelawadee UI"/>
                <a:cs typeface="Leelawadee UI"/>
              </a:rPr>
              <a:t>นายปวริศช์ ประมวล       673380278-9</a:t>
            </a:r>
          </a:p>
          <a:p xmlns:a="http://schemas.openxmlformats.org/drawingml/2006/main">
            <a:pPr algn="l">
              <a:defRPr sz="2025" b="0">
                <a:solidFill>
                  <a:srgbClr val="183244"/>
                </a:solidFill>
                <a:latin typeface="Leelawadee UI"/>
                <a:ea typeface="Leelawadee UI"/>
                <a:cs typeface="Leelawadee UI"/>
              </a:defRPr>
            </a:pPr>
            <a:r>
              <a:rPr sz="2025" b="0">
                <a:solidFill>
                  <a:srgbClr val="183244"/>
                </a:solidFill>
                <a:latin typeface="Leelawadee UI"/>
                <a:ea typeface="Leelawadee UI"/>
                <a:cs typeface="Leelawadee UI"/>
              </a:rPr>
              <a:t>นายแทนคุณ พันธ์นิกุล    673380301-0</a:t>
            </a:r>
          </a:p>
          <a:p xmlns:a="http://schemas.openxmlformats.org/drawingml/2006/main">
            <a:pPr algn="l">
              <a:defRPr sz="2025" b="0">
                <a:solidFill>
                  <a:srgbClr val="183244"/>
                </a:solidFill>
                <a:latin typeface="Leelawadee UI"/>
                <a:ea typeface="Leelawadee UI"/>
                <a:cs typeface="Leelawadee UI"/>
              </a:defRPr>
            </a:pPr>
            <a:r>
              <a:rPr sz="2025" b="0">
                <a:solidFill>
                  <a:srgbClr val="183244"/>
                </a:solidFill>
                <a:latin typeface="Leelawadee UI"/>
                <a:ea typeface="Leelawadee UI"/>
                <a:cs typeface="Leelawadee UI"/>
              </a:rPr>
              <a:t>นายธนภูมิ จันทรา         673380272-1</a:t>
            </a:r>
          </a:p>
          <a:p xmlns:a="http://schemas.openxmlformats.org/drawingml/2006/main">
            <a:pPr algn="l">
              <a:defRPr sz="2025" b="0">
                <a:solidFill>
                  <a:srgbClr val="183244"/>
                </a:solidFill>
                <a:latin typeface="Leelawadee UI"/>
                <a:ea typeface="Leelawadee UI"/>
                <a:cs typeface="Leelawadee UI"/>
              </a:defRPr>
            </a:pPr>
            <a:r>
              <a:rPr sz="2025" b="0">
                <a:solidFill>
                  <a:srgbClr val="183244"/>
                </a:solidFill>
                <a:latin typeface="Leelawadee UI"/>
                <a:ea typeface="Leelawadee UI"/>
                <a:cs typeface="Leelawadee UI"/>
              </a:rPr>
              <a:t>นายศิฆรินทร์ อุปจันทร์   673380292-5</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b5f9fe0b5fe428f"/>
          <a:stretch xmlns:a="http://schemas.openxmlformats.org/drawingml/2006/main"/>
        </p:blipFill>
        <p:spPr>
          <a:xfrm xmlns:a="http://schemas.openxmlformats.org/drawingml/2006/main">
            <a:off x="9810750" y="1880036"/>
            <a:ext cx="1333500" cy="124055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82AA624-41BE-43B7-A2FE-BE7C21DF0B2B}"/>
              </a:ext>
            </a:extLst>
          </p:cNvPr>
          <p:cNvSpPr>
            <a:spLocks xmlns:a="http://schemas.openxmlformats.org/drawingml/2006/main" noGrp="1"/>
          </p:cNvSpPr>
          <p:nvPr/>
        </p:nvSpPr>
        <p:spPr>
          <a:xfrm xmlns:a="http://schemas.openxmlformats.org/drawingml/2006/main">
            <a:off x="9286875" y="4267200"/>
            <a:ext cx="2333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8707D"/>
                </a:solidFill>
                <a:latin typeface="Leelawadee UI"/>
                <a:ea typeface="Leelawadee UI"/>
                <a:cs typeface="Leelawadee UI"/>
              </a:defRPr>
            </a:pPr>
            <a:r>
              <a:rPr sz="1875" b="0">
                <a:solidFill>
                  <a:srgbClr val="58707D"/>
                </a:solidFill>
                <a:latin typeface="Leelawadee UI"/>
                <a:ea typeface="Leelawadee UI"/>
                <a:cs typeface="Leelawadee UI"/>
              </a:rPr>
              <a:t>อาจารย์ประจำวิชา</a:t>
            </a:r>
          </a:p>
          <a:p xmlns:a="http://schemas.openxmlformats.org/drawingml/2006/main">
            <a:pPr algn="l">
              <a:defRPr sz="1875" b="0">
                <a:solidFill>
                  <a:srgbClr val="58707D"/>
                </a:solidFill>
                <a:latin typeface="Leelawadee UI"/>
                <a:ea typeface="Leelawadee UI"/>
                <a:cs typeface="Leelawadee UI"/>
              </a:defRPr>
            </a:pPr>
            <a:r>
              <a:rPr sz="1875" b="0">
                <a:solidFill>
                  <a:srgbClr val="58707D"/>
                </a:solidFill>
                <a:latin typeface="Leelawadee UI"/>
                <a:ea typeface="Leelawadee UI"/>
                <a:cs typeface="Leelawadee UI"/>
              </a:rPr>
              <a:t>ผศ.ดร.ชิตสุธา สุ่มเล็ก</a:t>
            </a:r>
          </a:p>
        </p:txBody>
      </p:sp>
    </p:spTree>
    <p:extLst>
      <p:ext uri="{BB962C8B-B14F-4D97-AF65-F5344CB8AC3E}">
        <p14:creationId xmlns:p14="http://schemas.microsoft.com/office/powerpoint/2010/main" val="1167740182"/>
      </p:ext>
    </p:extLst>
  </p:cSld>
</p:sld>
</file>

<file path=ppt/slides/slide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3093376-5F5E-4C8E-8BBC-E772DBF90249}"/>
              </a:ext>
            </a:extLst>
          </p:cNvPr>
          <p:cNvSpPr>
            <a:spLocks xmlns:a="http://schemas.openxmlformats.org/drawingml/2006/main" noGrp="1"/>
          </p:cNvSpPr>
          <p:nvPr/>
        </p:nvSpPr>
        <p:spPr>
          <a:xfrm xmlns:a="http://schemas.openxmlformats.org/drawingml/2006/main">
            <a:off x="609600" y="4381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83244"/>
                </a:solidFill>
                <a:latin typeface="Leelawadee UI"/>
                <a:ea typeface="Leelawadee UI"/>
                <a:cs typeface="Leelawadee UI"/>
              </a:defRPr>
            </a:pPr>
            <a:r>
              <a:rPr sz="3300" b="1">
                <a:solidFill>
                  <a:srgbClr val="183244"/>
                </a:solidFill>
                <a:latin typeface="Leelawadee UI"/>
                <a:ea typeface="Leelawadee UI"/>
                <a:cs typeface="Leelawadee UI"/>
              </a:rPr>
              <a:t>เป้าหมายและขอบเขตที่ประเมินได้</a:t>
            </a:r>
          </a:p>
        </p:txBody>
      </p:sp>
      <p:sp>
        <p:nvSpPr>
          <p:cNvPr id="2" name="">
            <a:extLst xmlns:a="http://schemas.openxmlformats.org/drawingml/2006/main">
              <a:ext uri="{FF2B5EF4-FFF2-40B4-BE49-F238E27FC236}">
                <a16:creationId xmlns:a16="http://schemas.microsoft.com/office/drawing/2014/main" id="{64CCB40C-C42A-4F7A-A914-896D2ED1CC6C}"/>
              </a:ext>
            </a:extLst>
          </p:cNvPr>
          <p:cNvSpPr>
            <a:spLocks xmlns:a="http://schemas.openxmlformats.org/drawingml/2006/main" noGrp="1"/>
          </p:cNvSpPr>
          <p:nvPr/>
        </p:nvSpPr>
        <p:spPr>
          <a:xfrm xmlns:a="http://schemas.openxmlformats.org/drawingml/2006/main">
            <a:off x="609600" y="630555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8707D"/>
                </a:solidFill>
                <a:latin typeface="Leelawadee UI"/>
                <a:ea typeface="Leelawadee UI"/>
                <a:cs typeface="Leelawadee UI"/>
              </a:defRPr>
            </a:pPr>
            <a:r>
              <a:rPr sz="1725" b="0">
                <a:solidFill>
                  <a:srgbClr val="58707D"/>
                </a:solidFill>
                <a:latin typeface="Leelawadee UI"/>
                <a:ea typeface="Leelawadee UI"/>
                <a:cs typeface="Leelawadee UI"/>
              </a:rPr>
              <a:t>ผลทดลอง snapshot 26 กันยายน 2026   |   02 / 10</a:t>
            </a:r>
          </a:p>
        </p:txBody>
      </p:sp>
      <p:sp>
        <p:nvSpPr>
          <p:cNvPr id="3" name="">
            <a:extLst xmlns:a="http://schemas.openxmlformats.org/drawingml/2006/main">
              <a:ext uri="{FF2B5EF4-FFF2-40B4-BE49-F238E27FC236}">
                <a16:creationId xmlns:a16="http://schemas.microsoft.com/office/drawing/2014/main" id="{848C3461-B54D-4B3B-BAD0-98981011D850}"/>
              </a:ext>
            </a:extLst>
          </p:cNvPr>
          <p:cNvSpPr>
            <a:spLocks xmlns:a="http://schemas.openxmlformats.org/drawingml/2006/main" noGrp="1"/>
          </p:cNvSpPr>
          <p:nvPr/>
        </p:nvSpPr>
        <p:spPr>
          <a:xfrm xmlns:a="http://schemas.openxmlformats.org/drawingml/2006/main">
            <a:off x="609600" y="1581150"/>
            <a:ext cx="6191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150" b="1">
                <a:solidFill>
                  <a:srgbClr val="087E83"/>
                </a:solidFill>
                <a:latin typeface="Leelawadee UI"/>
                <a:ea typeface="Leelawadee UI"/>
                <a:cs typeface="Leelawadee UI"/>
              </a:defRPr>
            </a:pPr>
            <a:r>
              <a:rPr sz="6150" b="1">
                <a:solidFill>
                  <a:srgbClr val="087E83"/>
                </a:solidFill>
                <a:latin typeface="Leelawadee UI"/>
                <a:ea typeface="Leelawadee UI"/>
                <a:cs typeface="Leelawadee UI"/>
              </a:rPr>
              <a:t>854 บั๊ก</a:t>
            </a:r>
          </a:p>
        </p:txBody>
      </p:sp>
      <p:sp>
        <p:nvSpPr>
          <p:cNvPr id="4" name="">
            <a:extLst xmlns:a="http://schemas.openxmlformats.org/drawingml/2006/main">
              <a:ext uri="{FF2B5EF4-FFF2-40B4-BE49-F238E27FC236}">
                <a16:creationId xmlns:a16="http://schemas.microsoft.com/office/drawing/2014/main" id="{DCD0EE1D-8BD0-4FDB-8599-62A63765EA24}"/>
              </a:ext>
            </a:extLst>
          </p:cNvPr>
          <p:cNvSpPr>
            <a:spLocks xmlns:a="http://schemas.openxmlformats.org/drawingml/2006/main" noGrp="1"/>
          </p:cNvSpPr>
          <p:nvPr/>
        </p:nvSpPr>
        <p:spPr>
          <a:xfrm xmlns:a="http://schemas.openxmlformats.org/drawingml/2006/main">
            <a:off x="609600" y="26670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183244"/>
                </a:solidFill>
                <a:latin typeface="Leelawadee UI"/>
                <a:ea typeface="Leelawadee UI"/>
                <a:cs typeface="Leelawadee UI"/>
              </a:defRPr>
            </a:pPr>
            <a:r>
              <a:rPr sz="2550" b="0">
                <a:solidFill>
                  <a:srgbClr val="183244"/>
                </a:solidFill>
                <a:latin typeface="Leelawadee UI"/>
                <a:ea typeface="Leelawadee UI"/>
                <a:cs typeface="Leelawadee UI"/>
              </a:rPr>
              <a:t>17 โครงการ  ×  4 เทคนิค  =  3,416 คู่บั๊ก–เทคนิค</a:t>
            </a:r>
          </a:p>
        </p:txBody>
      </p:sp>
      <p:sp>
        <p:nvSpPr>
          <p:cNvPr id="5" name="">
            <a:extLst xmlns:a="http://schemas.openxmlformats.org/drawingml/2006/main">
              <a:ext uri="{FF2B5EF4-FFF2-40B4-BE49-F238E27FC236}">
                <a16:creationId xmlns:a16="http://schemas.microsoft.com/office/drawing/2014/main" id="{C346D2EE-0D10-49CF-AC5B-B89789BB46D4}"/>
              </a:ext>
            </a:extLst>
          </p:cNvPr>
          <p:cNvSpPr>
            <a:spLocks xmlns:a="http://schemas.openxmlformats.org/drawingml/2006/main" noGrp="1"/>
          </p:cNvSpPr>
          <p:nvPr/>
        </p:nvSpPr>
        <p:spPr>
          <a:xfrm xmlns:a="http://schemas.openxmlformats.org/drawingml/2006/main">
            <a:off x="609600" y="36766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250" b="1">
                <a:solidFill>
                  <a:srgbClr val="183244"/>
                </a:solidFill>
                <a:latin typeface="Leelawadee UI"/>
                <a:ea typeface="Leelawadee UI"/>
                <a:cs typeface="Leelawadee UI"/>
              </a:defRPr>
            </a:pPr>
            <a:r>
              <a:rPr sz="5250" b="1">
                <a:solidFill>
                  <a:srgbClr val="183244"/>
                </a:solidFill>
                <a:latin typeface="Leelawadee UI"/>
                <a:ea typeface="Leelawadee UI"/>
                <a:cs typeface="Leelawadee UI"/>
              </a:rPr>
              <a:t>2,797</a:t>
            </a:r>
          </a:p>
        </p:txBody>
      </p:sp>
      <p:sp>
        <p:nvSpPr>
          <p:cNvPr id="6" name="">
            <a:extLst xmlns:a="http://schemas.openxmlformats.org/drawingml/2006/main">
              <a:ext uri="{FF2B5EF4-FFF2-40B4-BE49-F238E27FC236}">
                <a16:creationId xmlns:a16="http://schemas.microsoft.com/office/drawing/2014/main" id="{0D519714-9394-497D-BD3E-C06A74CF83DC}"/>
              </a:ext>
            </a:extLst>
          </p:cNvPr>
          <p:cNvSpPr>
            <a:spLocks xmlns:a="http://schemas.openxmlformats.org/drawingml/2006/main" noGrp="1"/>
          </p:cNvSpPr>
          <p:nvPr/>
        </p:nvSpPr>
        <p:spPr>
          <a:xfrm xmlns:a="http://schemas.openxmlformats.org/drawingml/2006/main">
            <a:off x="609600" y="45720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83244"/>
                </a:solidFill>
                <a:latin typeface="Leelawadee UI"/>
                <a:ea typeface="Leelawadee UI"/>
                <a:cs typeface="Leelawadee UI"/>
              </a:defRPr>
            </a:pPr>
            <a:r>
              <a:rPr sz="2250" b="0">
                <a:solidFill>
                  <a:srgbClr val="183244"/>
                </a:solidFill>
                <a:latin typeface="Leelawadee UI"/>
                <a:ea typeface="Leelawadee UI"/>
                <a:cs typeface="Leelawadee UI"/>
              </a:rPr>
              <a:t>คู่ที่มี suite และประเมินแล้ว</a:t>
            </a:r>
          </a:p>
        </p:txBody>
      </p:sp>
      <p:sp>
        <p:nvSpPr>
          <p:cNvPr id="7" name="">
            <a:extLst xmlns:a="http://schemas.openxmlformats.org/drawingml/2006/main">
              <a:ext uri="{FF2B5EF4-FFF2-40B4-BE49-F238E27FC236}">
                <a16:creationId xmlns:a16="http://schemas.microsoft.com/office/drawing/2014/main" id="{7891E708-2C8F-44DC-8ECD-DED8AA2F55AA}"/>
              </a:ext>
            </a:extLst>
          </p:cNvPr>
          <p:cNvSpPr>
            <a:spLocks xmlns:a="http://schemas.openxmlformats.org/drawingml/2006/main" noGrp="1"/>
          </p:cNvSpPr>
          <p:nvPr/>
        </p:nvSpPr>
        <p:spPr>
          <a:xfrm xmlns:a="http://schemas.openxmlformats.org/drawingml/2006/main">
            <a:off x="6762750" y="36766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250" b="1">
                <a:solidFill>
                  <a:srgbClr val="BC5A43"/>
                </a:solidFill>
                <a:latin typeface="Leelawadee UI"/>
                <a:ea typeface="Leelawadee UI"/>
                <a:cs typeface="Leelawadee UI"/>
              </a:defRPr>
            </a:pPr>
            <a:r>
              <a:rPr sz="5250" b="1">
                <a:solidFill>
                  <a:srgbClr val="BC5A43"/>
                </a:solidFill>
                <a:latin typeface="Leelawadee UI"/>
                <a:ea typeface="Leelawadee UI"/>
                <a:cs typeface="Leelawadee UI"/>
              </a:rPr>
              <a:t>619</a:t>
            </a:r>
          </a:p>
        </p:txBody>
      </p:sp>
      <p:sp>
        <p:nvSpPr>
          <p:cNvPr id="8" name="">
            <a:extLst xmlns:a="http://schemas.openxmlformats.org/drawingml/2006/main">
              <a:ext uri="{FF2B5EF4-FFF2-40B4-BE49-F238E27FC236}">
                <a16:creationId xmlns:a16="http://schemas.microsoft.com/office/drawing/2014/main" id="{185A301C-1395-46DA-AD5F-6068429CFD1A}"/>
              </a:ext>
            </a:extLst>
          </p:cNvPr>
          <p:cNvSpPr>
            <a:spLocks xmlns:a="http://schemas.openxmlformats.org/drawingml/2006/main" noGrp="1"/>
          </p:cNvSpPr>
          <p:nvPr/>
        </p:nvSpPr>
        <p:spPr>
          <a:xfrm xmlns:a="http://schemas.openxmlformats.org/drawingml/2006/main">
            <a:off x="6762750" y="457200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83244"/>
                </a:solidFill>
                <a:latin typeface="Leelawadee UI"/>
                <a:ea typeface="Leelawadee UI"/>
                <a:cs typeface="Leelawadee UI"/>
              </a:defRPr>
            </a:pPr>
            <a:r>
              <a:rPr sz="2250" b="0">
                <a:solidFill>
                  <a:srgbClr val="183244"/>
                </a:solidFill>
                <a:latin typeface="Leelawadee UI"/>
                <a:ea typeface="Leelawadee UI"/>
                <a:cs typeface="Leelawadee UI"/>
              </a:rPr>
              <a:t>คู่ที่ไม่มี suite (NO_SUITE)</a:t>
            </a:r>
          </a:p>
        </p:txBody>
      </p:sp>
      <p:sp>
        <p:nvSpPr>
          <p:cNvPr id="9" name="">
            <a:extLst xmlns:a="http://schemas.openxmlformats.org/drawingml/2006/main">
              <a:ext uri="{FF2B5EF4-FFF2-40B4-BE49-F238E27FC236}">
                <a16:creationId xmlns:a16="http://schemas.microsoft.com/office/drawing/2014/main" id="{E1BB9B02-19DC-47A8-9CB6-DD971F1B0FA4}"/>
              </a:ext>
            </a:extLst>
          </p:cNvPr>
          <p:cNvSpPr>
            <a:spLocks xmlns:a="http://schemas.openxmlformats.org/drawingml/2006/main" noGrp="1"/>
          </p:cNvSpPr>
          <p:nvPr/>
        </p:nvSpPr>
        <p:spPr>
          <a:xfrm xmlns:a="http://schemas.openxmlformats.org/drawingml/2006/main">
            <a:off x="609600" y="54864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8707D"/>
                </a:solidFill>
                <a:latin typeface="Leelawadee UI"/>
                <a:ea typeface="Leelawadee UI"/>
                <a:cs typeface="Leelawadee UI"/>
              </a:defRPr>
            </a:pPr>
            <a:r>
              <a:rPr sz="2175" b="0">
                <a:solidFill>
                  <a:srgbClr val="58707D"/>
                </a:solidFill>
                <a:latin typeface="Leelawadee UI"/>
                <a:ea typeface="Leelawadee UI"/>
                <a:cs typeface="Leelawadee UI"/>
              </a:rPr>
              <a:t>เปรียบเทียบ coverage · fault detection · ต้นทุนการสร้าง suite</a:t>
            </a:r>
          </a:p>
        </p:txBody>
      </p:sp>
    </p:spTree>
    <p:extLst>
      <p:ext uri="{BB962C8B-B14F-4D97-AF65-F5344CB8AC3E}">
        <p14:creationId xmlns:p14="http://schemas.microsoft.com/office/powerpoint/2010/main" val="631712419"/>
      </p:ext>
    </p:extLst>
  </p:cSld>
</p:sld>
</file>

<file path=ppt/slides/slide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5D0558F-393C-4D0C-ADA0-C6866AE4FFE1}"/>
              </a:ext>
            </a:extLst>
          </p:cNvPr>
          <p:cNvSpPr>
            <a:spLocks xmlns:a="http://schemas.openxmlformats.org/drawingml/2006/main" noGrp="1"/>
          </p:cNvSpPr>
          <p:nvPr/>
        </p:nvSpPr>
        <p:spPr>
          <a:xfrm xmlns:a="http://schemas.openxmlformats.org/drawingml/2006/main">
            <a:off x="609600" y="4381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83244"/>
                </a:solidFill>
                <a:latin typeface="Leelawadee UI"/>
                <a:ea typeface="Leelawadee UI"/>
                <a:cs typeface="Leelawadee UI"/>
              </a:defRPr>
            </a:pPr>
            <a:r>
              <a:rPr sz="3300" b="1">
                <a:solidFill>
                  <a:srgbClr val="183244"/>
                </a:solidFill>
                <a:latin typeface="Leelawadee UI"/>
                <a:ea typeface="Leelawadee UI"/>
                <a:cs typeface="Leelawadee UI"/>
              </a:rPr>
              <a:t>การสร้าง suite ด้วย IPO และ MIO</a:t>
            </a:r>
          </a:p>
        </p:txBody>
      </p:sp>
      <p:sp>
        <p:nvSpPr>
          <p:cNvPr id="2" name="">
            <a:extLst xmlns:a="http://schemas.openxmlformats.org/drawingml/2006/main">
              <a:ext uri="{FF2B5EF4-FFF2-40B4-BE49-F238E27FC236}">
                <a16:creationId xmlns:a16="http://schemas.microsoft.com/office/drawing/2014/main" id="{7110FA89-B020-45FD-B7AA-911672B51D9C}"/>
              </a:ext>
            </a:extLst>
          </p:cNvPr>
          <p:cNvSpPr>
            <a:spLocks xmlns:a="http://schemas.openxmlformats.org/drawingml/2006/main" noGrp="1"/>
          </p:cNvSpPr>
          <p:nvPr/>
        </p:nvSpPr>
        <p:spPr>
          <a:xfrm xmlns:a="http://schemas.openxmlformats.org/drawingml/2006/main">
            <a:off x="609600" y="630555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8707D"/>
                </a:solidFill>
                <a:latin typeface="Leelawadee UI"/>
                <a:ea typeface="Leelawadee UI"/>
                <a:cs typeface="Leelawadee UI"/>
              </a:defRPr>
            </a:pPr>
            <a:r>
              <a:rPr sz="1725" b="0">
                <a:solidFill>
                  <a:srgbClr val="58707D"/>
                </a:solidFill>
                <a:latin typeface="Leelawadee UI"/>
                <a:ea typeface="Leelawadee UI"/>
                <a:cs typeface="Leelawadee UI"/>
              </a:rPr>
              <a:t>หลักฐาน: source, configuration และ test code ของเจ้าของเทคนิค   |   03 / 10</a:t>
            </a:r>
          </a:p>
        </p:txBody>
      </p:sp>
      <p:sp>
        <p:nvSpPr>
          <p:cNvPr id="3" name="">
            <a:extLst xmlns:a="http://schemas.openxmlformats.org/drawingml/2006/main">
              <a:ext uri="{FF2B5EF4-FFF2-40B4-BE49-F238E27FC236}">
                <a16:creationId xmlns:a16="http://schemas.microsoft.com/office/drawing/2014/main" id="{A4EE72BB-8E63-411E-BB37-67CDC34476A3}"/>
              </a:ext>
            </a:extLst>
          </p:cNvPr>
          <p:cNvSpPr>
            <a:spLocks xmlns:a="http://schemas.openxmlformats.org/drawingml/2006/main" noGrp="1"/>
          </p:cNvSpPr>
          <p:nvPr/>
        </p:nvSpPr>
        <p:spPr>
          <a:xfrm xmlns:a="http://schemas.openxmlformats.org/drawingml/2006/main">
            <a:off x="609600" y="149542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087E83"/>
                </a:solidFill>
                <a:latin typeface="Leelawadee UI"/>
                <a:ea typeface="Leelawadee UI"/>
                <a:cs typeface="Leelawadee UI"/>
              </a:defRPr>
            </a:pPr>
            <a:r>
              <a:rPr sz="3000" b="1">
                <a:solidFill>
                  <a:srgbClr val="087E83"/>
                </a:solidFill>
                <a:latin typeface="Leelawadee UI"/>
                <a:ea typeface="Leelawadee UI"/>
                <a:cs typeface="Leelawadee UI"/>
              </a:rPr>
              <a:t>Native IPO</a:t>
            </a:r>
          </a:p>
        </p:txBody>
      </p:sp>
      <p:sp>
        <p:nvSpPr>
          <p:cNvPr id="4" name="">
            <a:extLst xmlns:a="http://schemas.openxmlformats.org/drawingml/2006/main">
              <a:ext uri="{FF2B5EF4-FFF2-40B4-BE49-F238E27FC236}">
                <a16:creationId xmlns:a16="http://schemas.microsoft.com/office/drawing/2014/main" id="{26B4D5E2-B3BC-4AAF-9B92-50C1157EB4A1}"/>
              </a:ext>
            </a:extLst>
          </p:cNvPr>
          <p:cNvSpPr>
            <a:spLocks xmlns:a="http://schemas.openxmlformats.org/drawingml/2006/main" noGrp="1"/>
          </p:cNvSpPr>
          <p:nvPr/>
        </p:nvSpPr>
        <p:spPr>
          <a:xfrm xmlns:a="http://schemas.openxmlformats.org/drawingml/2006/main">
            <a:off x="6496050" y="149542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BC5A43"/>
                </a:solidFill>
                <a:latin typeface="Leelawadee UI"/>
                <a:ea typeface="Leelawadee UI"/>
                <a:cs typeface="Leelawadee UI"/>
              </a:defRPr>
            </a:pPr>
            <a:r>
              <a:rPr sz="3000" b="1">
                <a:solidFill>
                  <a:srgbClr val="BC5A43"/>
                </a:solidFill>
                <a:latin typeface="Leelawadee UI"/>
                <a:ea typeface="Leelawadee UI"/>
                <a:cs typeface="Leelawadee UI"/>
              </a:rPr>
              <a:t>MIO / EvoSuite</a:t>
            </a:r>
          </a:p>
        </p:txBody>
      </p:sp>
      <p:sp>
        <p:nvSpPr>
          <p:cNvPr id="5" name="">
            <a:extLst xmlns:a="http://schemas.openxmlformats.org/drawingml/2006/main">
              <a:ext uri="{FF2B5EF4-FFF2-40B4-BE49-F238E27FC236}">
                <a16:creationId xmlns:a16="http://schemas.microsoft.com/office/drawing/2014/main" id="{5074620C-4DC0-438A-B114-CF2F837C6016}"/>
              </a:ext>
            </a:extLst>
          </p:cNvPr>
          <p:cNvSpPr>
            <a:spLocks xmlns:a="http://schemas.openxmlformats.org/drawingml/2006/main" noGrp="1"/>
          </p:cNvSpPr>
          <p:nvPr/>
        </p:nvSpPr>
        <p:spPr>
          <a:xfrm xmlns:a="http://schemas.openxmlformats.org/drawingml/2006/main">
            <a:off x="609600" y="2343150"/>
            <a:ext cx="5381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83244"/>
                </a:solidFill>
                <a:latin typeface="Leelawadee UI"/>
                <a:ea typeface="Leelawadee UI"/>
                <a:cs typeface="Leelawadee UI"/>
              </a:defRPr>
            </a:pPr>
            <a:r>
              <a:rPr sz="2175" b="0">
                <a:solidFill>
                  <a:srgbClr val="183244"/>
                </a:solidFill>
                <a:latin typeface="Leelawadee UI"/>
                <a:ea typeface="Leelawadee UI"/>
                <a:cs typeface="Leelawadee UI"/>
              </a:rPr>
              <a:t>วิเคราะห์ API → factor และค่า input</a:t>
            </a:r>
          </a:p>
        </p:txBody>
      </p:sp>
      <p:sp>
        <p:nvSpPr>
          <p:cNvPr id="6" name="">
            <a:extLst xmlns:a="http://schemas.openxmlformats.org/drawingml/2006/main">
              <a:ext uri="{FF2B5EF4-FFF2-40B4-BE49-F238E27FC236}">
                <a16:creationId xmlns:a16="http://schemas.microsoft.com/office/drawing/2014/main" id="{F9F0AEED-53A9-4999-8324-3A8D25ACF62C}"/>
              </a:ext>
            </a:extLst>
          </p:cNvPr>
          <p:cNvSpPr>
            <a:spLocks xmlns:a="http://schemas.openxmlformats.org/drawingml/2006/main" noGrp="1"/>
          </p:cNvSpPr>
          <p:nvPr/>
        </p:nvSpPr>
        <p:spPr>
          <a:xfrm xmlns:a="http://schemas.openxmlformats.org/drawingml/2006/main">
            <a:off x="609600" y="3057525"/>
            <a:ext cx="5381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83244"/>
                </a:solidFill>
                <a:latin typeface="Leelawadee UI"/>
                <a:ea typeface="Leelawadee UI"/>
                <a:cs typeface="Leelawadee UI"/>
              </a:defRPr>
            </a:pPr>
            <a:r>
              <a:rPr sz="2175" b="0">
                <a:solidFill>
                  <a:srgbClr val="183244"/>
                </a:solidFill>
                <a:latin typeface="Leelawadee UI"/>
                <a:ea typeface="Leelawadee UI"/>
                <a:cs typeface="Leelawadee UI"/>
              </a:rPr>
              <a:t>สร้างคู่ค่าครบทุกคู่ (strength 2)</a:t>
            </a:r>
          </a:p>
        </p:txBody>
      </p:sp>
      <p:sp>
        <p:nvSpPr>
          <p:cNvPr id="7" name="">
            <a:extLst xmlns:a="http://schemas.openxmlformats.org/drawingml/2006/main">
              <a:ext uri="{FF2B5EF4-FFF2-40B4-BE49-F238E27FC236}">
                <a16:creationId xmlns:a16="http://schemas.microsoft.com/office/drawing/2014/main" id="{239858EA-91D2-4ED3-95A0-99650E312D9B}"/>
              </a:ext>
            </a:extLst>
          </p:cNvPr>
          <p:cNvSpPr>
            <a:spLocks xmlns:a="http://schemas.openxmlformats.org/drawingml/2006/main" noGrp="1"/>
          </p:cNvSpPr>
          <p:nvPr/>
        </p:nvSpPr>
        <p:spPr>
          <a:xfrm xmlns:a="http://schemas.openxmlformats.org/drawingml/2006/main">
            <a:off x="609600" y="3771900"/>
            <a:ext cx="5381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83244"/>
                </a:solidFill>
                <a:latin typeface="Leelawadee UI"/>
                <a:ea typeface="Leelawadee UI"/>
                <a:cs typeface="Leelawadee UI"/>
              </a:defRPr>
            </a:pPr>
            <a:r>
              <a:rPr sz="2175" b="0">
                <a:solidFill>
                  <a:srgbClr val="183244"/>
                </a:solidFill>
                <a:latin typeface="Leelawadee UI"/>
                <a:ea typeface="Leelawadee UI"/>
                <a:cs typeface="Leelawadee UI"/>
              </a:rPr>
              <a:t>สร้าง JUnit 4 + oracle</a:t>
            </a:r>
          </a:p>
        </p:txBody>
      </p:sp>
      <p:sp>
        <p:nvSpPr>
          <p:cNvPr id="8" name="">
            <a:extLst xmlns:a="http://schemas.openxmlformats.org/drawingml/2006/main">
              <a:ext uri="{FF2B5EF4-FFF2-40B4-BE49-F238E27FC236}">
                <a16:creationId xmlns:a16="http://schemas.microsoft.com/office/drawing/2014/main" id="{DAD08349-DDEB-4832-98FD-4535A51AAFBB}"/>
              </a:ext>
            </a:extLst>
          </p:cNvPr>
          <p:cNvSpPr>
            <a:spLocks xmlns:a="http://schemas.openxmlformats.org/drawingml/2006/main" noGrp="1"/>
          </p:cNvSpPr>
          <p:nvPr/>
        </p:nvSpPr>
        <p:spPr>
          <a:xfrm xmlns:a="http://schemas.openxmlformats.org/drawingml/2006/main">
            <a:off x="609600" y="4486275"/>
            <a:ext cx="5381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83244"/>
                </a:solidFill>
                <a:latin typeface="Leelawadee UI"/>
                <a:ea typeface="Leelawadee UI"/>
                <a:cs typeface="Leelawadee UI"/>
              </a:defRPr>
            </a:pPr>
            <a:r>
              <a:rPr sz="2175" b="0">
                <a:solidFill>
                  <a:srgbClr val="183244"/>
                </a:solidFill>
                <a:latin typeface="Leelawadee UI"/>
                <a:ea typeface="Leelawadee UI"/>
                <a:cs typeface="Leelawadee UI"/>
              </a:rPr>
              <a:t>ตรวจบน fixed และยืนยัน hash</a:t>
            </a:r>
          </a:p>
        </p:txBody>
      </p:sp>
      <p:sp>
        <p:nvSpPr>
          <p:cNvPr id="9" name="">
            <a:extLst xmlns:a="http://schemas.openxmlformats.org/drawingml/2006/main">
              <a:ext uri="{FF2B5EF4-FFF2-40B4-BE49-F238E27FC236}">
                <a16:creationId xmlns:a16="http://schemas.microsoft.com/office/drawing/2014/main" id="{F563348D-E790-42FA-930F-6DE314F730BE}"/>
              </a:ext>
            </a:extLst>
          </p:cNvPr>
          <p:cNvSpPr>
            <a:spLocks xmlns:a="http://schemas.openxmlformats.org/drawingml/2006/main" noGrp="1"/>
          </p:cNvSpPr>
          <p:nvPr/>
        </p:nvSpPr>
        <p:spPr>
          <a:xfrm xmlns:a="http://schemas.openxmlformats.org/drawingml/2006/main">
            <a:off x="6496050" y="2343150"/>
            <a:ext cx="5381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83244"/>
                </a:solidFill>
                <a:latin typeface="Leelawadee UI"/>
                <a:ea typeface="Leelawadee UI"/>
                <a:cs typeface="Leelawadee UI"/>
              </a:defRPr>
            </a:pPr>
            <a:r>
              <a:rPr sz="2175" b="0">
                <a:solidFill>
                  <a:srgbClr val="183244"/>
                </a:solidFill>
                <a:latin typeface="Leelawadee UI"/>
                <a:ea typeface="Leelawadee UI"/>
                <a:cs typeface="Leelawadee UI"/>
              </a:rPr>
              <a:t>กำหนด target และ coverage goals</a:t>
            </a:r>
          </a:p>
        </p:txBody>
      </p:sp>
      <p:sp>
        <p:nvSpPr>
          <p:cNvPr id="10" name="">
            <a:extLst xmlns:a="http://schemas.openxmlformats.org/drawingml/2006/main">
              <a:ext uri="{FF2B5EF4-FFF2-40B4-BE49-F238E27FC236}">
                <a16:creationId xmlns:a16="http://schemas.microsoft.com/office/drawing/2014/main" id="{73465471-1F2E-4EBA-AB0A-2B885BCF7308}"/>
              </a:ext>
            </a:extLst>
          </p:cNvPr>
          <p:cNvSpPr>
            <a:spLocks xmlns:a="http://schemas.openxmlformats.org/drawingml/2006/main" noGrp="1"/>
          </p:cNvSpPr>
          <p:nvPr/>
        </p:nvSpPr>
        <p:spPr>
          <a:xfrm xmlns:a="http://schemas.openxmlformats.org/drawingml/2006/main">
            <a:off x="6496050" y="3057525"/>
            <a:ext cx="5381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83244"/>
                </a:solidFill>
                <a:latin typeface="Leelawadee UI"/>
                <a:ea typeface="Leelawadee UI"/>
                <a:cs typeface="Leelawadee UI"/>
              </a:defRPr>
            </a:pPr>
            <a:r>
              <a:rPr sz="2175" b="0">
                <a:solidFill>
                  <a:srgbClr val="183244"/>
                </a:solidFill>
                <a:latin typeface="Leelawadee UI"/>
                <a:ea typeface="Leelawadee UI"/>
                <a:cs typeface="Leelawadee UI"/>
              </a:rPr>
              <a:t>ค้นหาและปรับ test ตามเป้าหมาย</a:t>
            </a:r>
          </a:p>
        </p:txBody>
      </p:sp>
      <p:sp>
        <p:nvSpPr>
          <p:cNvPr id="11" name="">
            <a:extLst xmlns:a="http://schemas.openxmlformats.org/drawingml/2006/main">
              <a:ext uri="{FF2B5EF4-FFF2-40B4-BE49-F238E27FC236}">
                <a16:creationId xmlns:a16="http://schemas.microsoft.com/office/drawing/2014/main" id="{EA1750DD-E27A-4091-BC07-A759CBCF435C}"/>
              </a:ext>
            </a:extLst>
          </p:cNvPr>
          <p:cNvSpPr>
            <a:spLocks xmlns:a="http://schemas.openxmlformats.org/drawingml/2006/main" noGrp="1"/>
          </p:cNvSpPr>
          <p:nvPr/>
        </p:nvSpPr>
        <p:spPr>
          <a:xfrm xmlns:a="http://schemas.openxmlformats.org/drawingml/2006/main">
            <a:off x="6496050" y="3771900"/>
            <a:ext cx="5381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83244"/>
                </a:solidFill>
                <a:latin typeface="Leelawadee UI"/>
                <a:ea typeface="Leelawadee UI"/>
                <a:cs typeface="Leelawadee UI"/>
              </a:defRPr>
            </a:pPr>
            <a:r>
              <a:rPr sz="2175" b="0">
                <a:solidFill>
                  <a:srgbClr val="183244"/>
                </a:solidFill>
                <a:latin typeface="Leelawadee UI"/>
                <a:ea typeface="Leelawadee UI"/>
                <a:cs typeface="Leelawadee UI"/>
              </a:rPr>
              <a:t>Budget 30 / 60 / 120 วินาที</a:t>
            </a:r>
          </a:p>
        </p:txBody>
      </p:sp>
      <p:sp>
        <p:nvSpPr>
          <p:cNvPr id="12" name="">
            <a:extLst xmlns:a="http://schemas.openxmlformats.org/drawingml/2006/main">
              <a:ext uri="{FF2B5EF4-FFF2-40B4-BE49-F238E27FC236}">
                <a16:creationId xmlns:a16="http://schemas.microsoft.com/office/drawing/2014/main" id="{2488F971-6437-4F02-A09E-0073646873E1}"/>
              </a:ext>
            </a:extLst>
          </p:cNvPr>
          <p:cNvSpPr>
            <a:spLocks xmlns:a="http://schemas.openxmlformats.org/drawingml/2006/main" noGrp="1"/>
          </p:cNvSpPr>
          <p:nvPr/>
        </p:nvSpPr>
        <p:spPr>
          <a:xfrm xmlns:a="http://schemas.openxmlformats.org/drawingml/2006/main">
            <a:off x="6496050" y="4486275"/>
            <a:ext cx="5381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83244"/>
                </a:solidFill>
                <a:latin typeface="Leelawadee UI"/>
                <a:ea typeface="Leelawadee UI"/>
                <a:cs typeface="Leelawadee UI"/>
              </a:defRPr>
            </a:pPr>
            <a:r>
              <a:rPr sz="2175" b="0">
                <a:solidFill>
                  <a:srgbClr val="183244"/>
                </a:solidFill>
                <a:latin typeface="Leelawadee UI"/>
                <a:ea typeface="Leelawadee UI"/>
                <a:cs typeface="Leelawadee UI"/>
              </a:rPr>
              <a:t>Seeds 101 / 102 / 103 + scaffolding</a:t>
            </a:r>
          </a:p>
        </p:txBody>
      </p:sp>
      <p:sp>
        <p:nvSpPr>
          <p:cNvPr id="13" name="">
            <a:extLst xmlns:a="http://schemas.openxmlformats.org/drawingml/2006/main">
              <a:ext uri="{FF2B5EF4-FFF2-40B4-BE49-F238E27FC236}">
                <a16:creationId xmlns:a16="http://schemas.microsoft.com/office/drawing/2014/main" id="{58830A0A-DD60-49ED-8368-97A15F990380}"/>
              </a:ext>
            </a:extLst>
          </p:cNvPr>
          <p:cNvSpPr>
            <a:spLocks xmlns:a="http://schemas.openxmlformats.org/drawingml/2006/main" noGrp="1"/>
          </p:cNvSpPr>
          <p:nvPr/>
        </p:nvSpPr>
        <p:spPr>
          <a:xfrm xmlns:a="http://schemas.openxmlformats.org/drawingml/2006/main">
            <a:off x="609600" y="54006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087E83"/>
                </a:solidFill>
                <a:latin typeface="Leelawadee UI"/>
                <a:ea typeface="Leelawadee UI"/>
                <a:cs typeface="Leelawadee UI"/>
              </a:defRPr>
            </a:pPr>
            <a:r>
              <a:rPr sz="2250" b="1">
                <a:solidFill>
                  <a:srgbClr val="087E83"/>
                </a:solidFill>
                <a:latin typeface="Leelawadee UI"/>
                <a:ea typeface="Leelawadee UI"/>
                <a:cs typeface="Leelawadee UI"/>
              </a:rPr>
              <a:t>ส่งเข้า benchmark: 257 บั๊ก</a:t>
            </a:r>
          </a:p>
        </p:txBody>
      </p:sp>
      <p:sp>
        <p:nvSpPr>
          <p:cNvPr id="14" name="">
            <a:extLst xmlns:a="http://schemas.openxmlformats.org/drawingml/2006/main">
              <a:ext uri="{FF2B5EF4-FFF2-40B4-BE49-F238E27FC236}">
                <a16:creationId xmlns:a16="http://schemas.microsoft.com/office/drawing/2014/main" id="{51D2D165-5868-474D-8FDA-61C60729184E}"/>
              </a:ext>
            </a:extLst>
          </p:cNvPr>
          <p:cNvSpPr>
            <a:spLocks xmlns:a="http://schemas.openxmlformats.org/drawingml/2006/main" noGrp="1"/>
          </p:cNvSpPr>
          <p:nvPr/>
        </p:nvSpPr>
        <p:spPr>
          <a:xfrm xmlns:a="http://schemas.openxmlformats.org/drawingml/2006/main">
            <a:off x="6496050" y="54006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BC5A43"/>
                </a:solidFill>
                <a:latin typeface="Leelawadee UI"/>
                <a:ea typeface="Leelawadee UI"/>
                <a:cs typeface="Leelawadee UI"/>
              </a:defRPr>
            </a:pPr>
            <a:r>
              <a:rPr sz="2250" b="1">
                <a:solidFill>
                  <a:srgbClr val="BC5A43"/>
                </a:solidFill>
                <a:latin typeface="Leelawadee UI"/>
                <a:ea typeface="Leelawadee UI"/>
                <a:cs typeface="Leelawadee UI"/>
              </a:rPr>
              <a:t>ส่งเข้า benchmark: 834 บั๊ก</a:t>
            </a:r>
          </a:p>
        </p:txBody>
      </p:sp>
    </p:spTree>
    <p:extLst>
      <p:ext uri="{BB962C8B-B14F-4D97-AF65-F5344CB8AC3E}">
        <p14:creationId xmlns:p14="http://schemas.microsoft.com/office/powerpoint/2010/main" val="1283163991"/>
      </p:ext>
    </p:extLst>
  </p:cSld>
</p:sld>
</file>

<file path=ppt/slides/slide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1D05E7A-95B8-4E2D-83CD-66051BEAE8A8}"/>
              </a:ext>
            </a:extLst>
          </p:cNvPr>
          <p:cNvSpPr>
            <a:spLocks xmlns:a="http://schemas.openxmlformats.org/drawingml/2006/main" noGrp="1"/>
          </p:cNvSpPr>
          <p:nvPr/>
        </p:nvSpPr>
        <p:spPr>
          <a:xfrm xmlns:a="http://schemas.openxmlformats.org/drawingml/2006/main">
            <a:off x="609600" y="4381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83244"/>
                </a:solidFill>
                <a:latin typeface="Leelawadee UI"/>
                <a:ea typeface="Leelawadee UI"/>
                <a:cs typeface="Leelawadee UI"/>
              </a:defRPr>
            </a:pPr>
            <a:r>
              <a:rPr sz="3300" b="1">
                <a:solidFill>
                  <a:srgbClr val="183244"/>
                </a:solidFill>
                <a:latin typeface="Leelawadee UI"/>
                <a:ea typeface="Leelawadee UI"/>
                <a:cs typeface="Leelawadee UI"/>
              </a:rPr>
              <a:t>Prompt สำหรับ DeepSeek และ Gemini</a:t>
            </a:r>
          </a:p>
        </p:txBody>
      </p:sp>
      <p:sp>
        <p:nvSpPr>
          <p:cNvPr id="2" name="">
            <a:extLst xmlns:a="http://schemas.openxmlformats.org/drawingml/2006/main">
              <a:ext uri="{FF2B5EF4-FFF2-40B4-BE49-F238E27FC236}">
                <a16:creationId xmlns:a16="http://schemas.microsoft.com/office/drawing/2014/main" id="{1381782B-E524-4DFC-972B-25D263006D11}"/>
              </a:ext>
            </a:extLst>
          </p:cNvPr>
          <p:cNvSpPr>
            <a:spLocks xmlns:a="http://schemas.openxmlformats.org/drawingml/2006/main" noGrp="1"/>
          </p:cNvSpPr>
          <p:nvPr/>
        </p:nvSpPr>
        <p:spPr>
          <a:xfrm xmlns:a="http://schemas.openxmlformats.org/drawingml/2006/main">
            <a:off x="609600" y="630555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8707D"/>
                </a:solidFill>
                <a:latin typeface="Leelawadee UI"/>
                <a:ea typeface="Leelawadee UI"/>
                <a:cs typeface="Leelawadee UI"/>
              </a:defRPr>
            </a:pPr>
            <a:r>
              <a:rPr sz="1725" b="0">
                <a:solidFill>
                  <a:srgbClr val="58707D"/>
                </a:solidFill>
                <a:latin typeface="Leelawadee UI"/>
                <a:ea typeface="Leelawadee UI"/>
                <a:cs typeface="Leelawadee UI"/>
              </a:rPr>
              <a:t>หลักฐาน: actual prompts และ generation logs ใน repository   |   04 / 10</a:t>
            </a:r>
          </a:p>
        </p:txBody>
      </p:sp>
      <p:sp>
        <p:nvSpPr>
          <p:cNvPr id="3" name="">
            <a:extLst xmlns:a="http://schemas.openxmlformats.org/drawingml/2006/main">
              <a:ext uri="{FF2B5EF4-FFF2-40B4-BE49-F238E27FC236}">
                <a16:creationId xmlns:a16="http://schemas.microsoft.com/office/drawing/2014/main" id="{98937D92-804C-49E2-A5D9-492CFF6B5DE4}"/>
              </a:ext>
            </a:extLst>
          </p:cNvPr>
          <p:cNvSpPr>
            <a:spLocks xmlns:a="http://schemas.openxmlformats.org/drawingml/2006/main" noGrp="1"/>
          </p:cNvSpPr>
          <p:nvPr/>
        </p:nvSpPr>
        <p:spPr>
          <a:xfrm xmlns:a="http://schemas.openxmlformats.org/drawingml/2006/main">
            <a:off x="609600" y="148590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087E83"/>
                </a:solidFill>
                <a:latin typeface="Leelawadee UI"/>
                <a:ea typeface="Leelawadee UI"/>
                <a:cs typeface="Leelawadee UI"/>
              </a:defRPr>
            </a:pPr>
            <a:r>
              <a:rPr sz="2700" b="1">
                <a:solidFill>
                  <a:srgbClr val="087E83"/>
                </a:solidFill>
                <a:latin typeface="Leelawadee UI"/>
                <a:ea typeface="Leelawadee UI"/>
                <a:cs typeface="Leelawadee UI"/>
              </a:rPr>
              <a:t>Source code + target class + defect context</a:t>
            </a:r>
          </a:p>
        </p:txBody>
      </p:sp>
      <p:sp>
        <p:nvSpPr>
          <p:cNvPr id="4" name="">
            <a:extLst xmlns:a="http://schemas.openxmlformats.org/drawingml/2006/main">
              <a:ext uri="{FF2B5EF4-FFF2-40B4-BE49-F238E27FC236}">
                <a16:creationId xmlns:a16="http://schemas.microsoft.com/office/drawing/2014/main" id="{EB6BD863-AB24-469E-AC3B-613B5F7D4184}"/>
              </a:ext>
            </a:extLst>
          </p:cNvPr>
          <p:cNvSpPr>
            <a:spLocks xmlns:a="http://schemas.openxmlformats.org/drawingml/2006/main" noGrp="1"/>
          </p:cNvSpPr>
          <p:nvPr/>
        </p:nvSpPr>
        <p:spPr>
          <a:xfrm xmlns:a="http://schemas.openxmlformats.org/drawingml/2006/main">
            <a:off x="609600" y="20955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183244"/>
                </a:solidFill>
                <a:latin typeface="Leelawadee UI"/>
                <a:ea typeface="Leelawadee UI"/>
                <a:cs typeface="Leelawadee UI"/>
              </a:defRPr>
            </a:pPr>
            <a:r>
              <a:rPr sz="2550" b="0">
                <a:solidFill>
                  <a:srgbClr val="183244"/>
                </a:solidFill>
                <a:latin typeface="Leelawadee UI"/>
                <a:ea typeface="Leelawadee UI"/>
                <a:cs typeface="Leelawadee UI"/>
              </a:rPr>
              <a:t>→ AI ผ่าน KKU IntelSphere → JUnit 4 suite</a:t>
            </a:r>
          </a:p>
        </p:txBody>
      </p:sp>
      <p:sp>
        <p:nvSpPr>
          <p:cNvPr id="5" name="">
            <a:extLst xmlns:a="http://schemas.openxmlformats.org/drawingml/2006/main">
              <a:ext uri="{FF2B5EF4-FFF2-40B4-BE49-F238E27FC236}">
                <a16:creationId xmlns:a16="http://schemas.microsoft.com/office/drawing/2014/main" id="{E8921ADA-E2E9-47AB-BABE-49D90EEBA2D8}"/>
              </a:ext>
            </a:extLst>
          </p:cNvPr>
          <p:cNvSpPr>
            <a:spLocks xmlns:a="http://schemas.openxmlformats.org/drawingml/2006/main" noGrp="1"/>
          </p:cNvSpPr>
          <p:nvPr/>
        </p:nvSpPr>
        <p:spPr>
          <a:xfrm xmlns:a="http://schemas.openxmlformats.org/drawingml/2006/main">
            <a:off x="609600" y="30003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83244"/>
                </a:solidFill>
                <a:latin typeface="Leelawadee UI"/>
                <a:ea typeface="Leelawadee UI"/>
                <a:cs typeface="Leelawadee UI"/>
              </a:defRPr>
            </a:pPr>
            <a:r>
              <a:rPr sz="2250" b="0">
                <a:solidFill>
                  <a:srgbClr val="183244"/>
                </a:solidFill>
                <a:latin typeface="Leelawadee UI"/>
                <a:ea typeface="Leelawadee UI"/>
                <a:cs typeface="Leelawadee UI"/>
              </a:rPr>
              <a:t>Java 8 / JUnit 4 · package และชื่อคลาสถูกต้อง</a:t>
            </a:r>
          </a:p>
        </p:txBody>
      </p:sp>
      <p:sp>
        <p:nvSpPr>
          <p:cNvPr id="6" name="">
            <a:extLst xmlns:a="http://schemas.openxmlformats.org/drawingml/2006/main">
              <a:ext uri="{FF2B5EF4-FFF2-40B4-BE49-F238E27FC236}">
                <a16:creationId xmlns:a16="http://schemas.microsoft.com/office/drawing/2014/main" id="{A3283485-4733-4BFD-8971-F7908696B7A3}"/>
              </a:ext>
            </a:extLst>
          </p:cNvPr>
          <p:cNvSpPr>
            <a:spLocks xmlns:a="http://schemas.openxmlformats.org/drawingml/2006/main" noGrp="1"/>
          </p:cNvSpPr>
          <p:nvPr/>
        </p:nvSpPr>
        <p:spPr>
          <a:xfrm xmlns:a="http://schemas.openxmlformats.org/drawingml/2006/main">
            <a:off x="609600" y="36099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83244"/>
                </a:solidFill>
                <a:latin typeface="Leelawadee UI"/>
                <a:ea typeface="Leelawadee UI"/>
                <a:cs typeface="Leelawadee UI"/>
              </a:defRPr>
            </a:pPr>
            <a:r>
              <a:rPr sz="2250" b="0">
                <a:solidFill>
                  <a:srgbClr val="183244"/>
                </a:solidFill>
                <a:latin typeface="Leelawadee UI"/>
                <a:ea typeface="Leelawadee UI"/>
                <a:cs typeface="Leelawadee UI"/>
              </a:rPr>
              <a:t>Assertions ตรวจค่าจริง · boundary และ exception</a:t>
            </a:r>
          </a:p>
        </p:txBody>
      </p:sp>
      <p:sp>
        <p:nvSpPr>
          <p:cNvPr id="7" name="">
            <a:extLst xmlns:a="http://schemas.openxmlformats.org/drawingml/2006/main">
              <a:ext uri="{FF2B5EF4-FFF2-40B4-BE49-F238E27FC236}">
                <a16:creationId xmlns:a16="http://schemas.microsoft.com/office/drawing/2014/main" id="{889F1C37-2F3D-4574-99C8-D9C61FE8F11E}"/>
              </a:ext>
            </a:extLst>
          </p:cNvPr>
          <p:cNvSpPr>
            <a:spLocks xmlns:a="http://schemas.openxmlformats.org/drawingml/2006/main" noGrp="1"/>
          </p:cNvSpPr>
          <p:nvPr/>
        </p:nvSpPr>
        <p:spPr>
          <a:xfrm xmlns:a="http://schemas.openxmlformats.org/drawingml/2006/main">
            <a:off x="609600" y="42195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83244"/>
                </a:solidFill>
                <a:latin typeface="Leelawadee UI"/>
                <a:ea typeface="Leelawadee UI"/>
                <a:cs typeface="Leelawadee UI"/>
              </a:defRPr>
            </a:pPr>
            <a:r>
              <a:rPr sz="2250" b="0">
                <a:solidFill>
                  <a:srgbClr val="183244"/>
                </a:solidFill>
                <a:latin typeface="Leelawadee UI"/>
                <a:ea typeface="Leelawadee UI"/>
                <a:cs typeface="Leelawadee UI"/>
              </a:rPr>
              <a:t>Timeout 4 วินาที / test · จำกัด dependencies</a:t>
            </a:r>
          </a:p>
        </p:txBody>
      </p:sp>
      <p:sp>
        <p:nvSpPr>
          <p:cNvPr id="8" name="">
            <a:extLst xmlns:a="http://schemas.openxmlformats.org/drawingml/2006/main">
              <a:ext uri="{FF2B5EF4-FFF2-40B4-BE49-F238E27FC236}">
                <a16:creationId xmlns:a16="http://schemas.microsoft.com/office/drawing/2014/main" id="{747F4D6A-24C5-4280-8E61-BD87BF733277}"/>
              </a:ext>
            </a:extLst>
          </p:cNvPr>
          <p:cNvSpPr>
            <a:spLocks xmlns:a="http://schemas.openxmlformats.org/drawingml/2006/main" noGrp="1"/>
          </p:cNvSpPr>
          <p:nvPr/>
        </p:nvSpPr>
        <p:spPr>
          <a:xfrm xmlns:a="http://schemas.openxmlformats.org/drawingml/2006/main">
            <a:off x="609600" y="48291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83244"/>
                </a:solidFill>
                <a:latin typeface="Leelawadee UI"/>
                <a:ea typeface="Leelawadee UI"/>
                <a:cs typeface="Leelawadee UI"/>
              </a:defRPr>
            </a:pPr>
            <a:r>
              <a:rPr sz="2250" b="0">
                <a:solidFill>
                  <a:srgbClr val="183244"/>
                </a:solidFill>
                <a:latin typeface="Leelawadee UI"/>
                <a:ea typeface="Leelawadee UI"/>
                <a:cs typeface="Leelawadee UI"/>
              </a:rPr>
              <a:t>เก็บ prompt, test code, token และเวลา generation</a:t>
            </a:r>
          </a:p>
        </p:txBody>
      </p:sp>
      <p:sp>
        <p:nvSpPr>
          <p:cNvPr id="9" name="">
            <a:extLst xmlns:a="http://schemas.openxmlformats.org/drawingml/2006/main">
              <a:ext uri="{FF2B5EF4-FFF2-40B4-BE49-F238E27FC236}">
                <a16:creationId xmlns:a16="http://schemas.microsoft.com/office/drawing/2014/main" id="{30AE2B4B-7848-49FB-98B9-CEAFE3C124AE}"/>
              </a:ext>
            </a:extLst>
          </p:cNvPr>
          <p:cNvSpPr>
            <a:spLocks xmlns:a="http://schemas.openxmlformats.org/drawingml/2006/main" noGrp="1"/>
          </p:cNvSpPr>
          <p:nvPr/>
        </p:nvSpPr>
        <p:spPr>
          <a:xfrm xmlns:a="http://schemas.openxmlformats.org/drawingml/2006/main">
            <a:off x="609600" y="562927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BC5A43"/>
                </a:solidFill>
                <a:latin typeface="Leelawadee UI"/>
                <a:ea typeface="Leelawadee UI"/>
                <a:cs typeface="Leelawadee UI"/>
              </a:defRPr>
            </a:pPr>
            <a:r>
              <a:rPr sz="2100" b="1">
                <a:solidFill>
                  <a:srgbClr val="BC5A43"/>
                </a:solidFill>
                <a:latin typeface="Leelawadee UI"/>
                <a:ea typeface="Leelawadee UI"/>
                <a:cs typeface="Leelawadee UI"/>
              </a:rPr>
              <a:t>บาง prompt รู้บริบท defect: ข้อสรุปจำกัดตามเงื่อนไขนี้</a:t>
            </a:r>
          </a:p>
        </p:txBody>
      </p:sp>
    </p:spTree>
    <p:extLst>
      <p:ext uri="{BB962C8B-B14F-4D97-AF65-F5344CB8AC3E}">
        <p14:creationId xmlns:p14="http://schemas.microsoft.com/office/powerpoint/2010/main" val="2142948907"/>
      </p:ext>
    </p:extLst>
  </p:cSld>
</p:sld>
</file>

<file path=ppt/slides/slide5.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22DC0B-19B6-4023-B038-71B5D65813C2}"/>
              </a:ext>
            </a:extLst>
          </p:cNvPr>
          <p:cNvSpPr>
            <a:spLocks xmlns:a="http://schemas.openxmlformats.org/drawingml/2006/main" noGrp="1"/>
          </p:cNvSpPr>
          <p:nvPr/>
        </p:nvSpPr>
        <p:spPr>
          <a:xfrm xmlns:a="http://schemas.openxmlformats.org/drawingml/2006/main">
            <a:off x="609600" y="4381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83244"/>
                </a:solidFill>
                <a:latin typeface="Leelawadee UI"/>
                <a:ea typeface="Leelawadee UI"/>
                <a:cs typeface="Leelawadee UI"/>
              </a:defRPr>
            </a:pPr>
            <a:r>
              <a:rPr sz="3300" b="1">
                <a:solidFill>
                  <a:srgbClr val="183244"/>
                </a:solidFill>
                <a:latin typeface="Leelawadee UI"/>
                <a:ea typeface="Leelawadee UI"/>
                <a:cs typeface="Leelawadee UI"/>
              </a:rPr>
              <a:t>วิธีประเมินเดียวกันทั้งสี่เทคนิค</a:t>
            </a:r>
          </a:p>
        </p:txBody>
      </p:sp>
      <p:sp>
        <p:nvSpPr>
          <p:cNvPr id="2" name="">
            <a:extLst xmlns:a="http://schemas.openxmlformats.org/drawingml/2006/main">
              <a:ext uri="{FF2B5EF4-FFF2-40B4-BE49-F238E27FC236}">
                <a16:creationId xmlns:a16="http://schemas.microsoft.com/office/drawing/2014/main" id="{AB34726F-F28A-469D-BD61-C80AB056F262}"/>
              </a:ext>
            </a:extLst>
          </p:cNvPr>
          <p:cNvSpPr>
            <a:spLocks xmlns:a="http://schemas.openxmlformats.org/drawingml/2006/main" noGrp="1"/>
          </p:cNvSpPr>
          <p:nvPr/>
        </p:nvSpPr>
        <p:spPr>
          <a:xfrm xmlns:a="http://schemas.openxmlformats.org/drawingml/2006/main">
            <a:off x="609600" y="630555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8707D"/>
                </a:solidFill>
                <a:latin typeface="Leelawadee UI"/>
                <a:ea typeface="Leelawadee UI"/>
                <a:cs typeface="Leelawadee UI"/>
              </a:defRPr>
            </a:pPr>
            <a:r>
              <a:rPr sz="1725" b="0">
                <a:solidFill>
                  <a:srgbClr val="58707D"/>
                </a:solidFill>
                <a:latin typeface="Leelawadee UI"/>
                <a:ea typeface="Leelawadee UI"/>
                <a:cs typeface="Leelawadee UI"/>
              </a:rPr>
              <a:t>หลักฐาน: scripts/run_benchmark.py และ DATA_DICTIONARY   |   05 / 10</a:t>
            </a:r>
          </a:p>
        </p:txBody>
      </p:sp>
      <p:sp>
        <p:nvSpPr>
          <p:cNvPr id="3" name="">
            <a:extLst xmlns:a="http://schemas.openxmlformats.org/drawingml/2006/main">
              <a:ext uri="{FF2B5EF4-FFF2-40B4-BE49-F238E27FC236}">
                <a16:creationId xmlns:a16="http://schemas.microsoft.com/office/drawing/2014/main" id="{90BE0248-0B87-43F3-8C96-197680436815}"/>
              </a:ext>
            </a:extLst>
          </p:cNvPr>
          <p:cNvSpPr>
            <a:spLocks xmlns:a="http://schemas.openxmlformats.org/drawingml/2006/main" noGrp="1"/>
          </p:cNvSpPr>
          <p:nvPr/>
        </p:nvSpPr>
        <p:spPr>
          <a:xfrm xmlns:a="http://schemas.openxmlformats.org/drawingml/2006/main">
            <a:off x="609600" y="14668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087E83"/>
                </a:solidFill>
                <a:latin typeface="Leelawadee UI"/>
                <a:ea typeface="Leelawadee UI"/>
                <a:cs typeface="Leelawadee UI"/>
              </a:defRPr>
            </a:pPr>
            <a:r>
              <a:rPr sz="2550" b="1">
                <a:solidFill>
                  <a:srgbClr val="087E83"/>
                </a:solidFill>
                <a:latin typeface="Leelawadee UI"/>
                <a:ea typeface="Leelawadee UI"/>
                <a:cs typeface="Leelawadee UI"/>
              </a:rPr>
              <a:t>Suite + hash → Docker / Defects4J → buggy + fixed</a:t>
            </a:r>
          </a:p>
        </p:txBody>
      </p:sp>
      <p:sp>
        <p:nvSpPr>
          <p:cNvPr id="4" name="">
            <a:extLst xmlns:a="http://schemas.openxmlformats.org/drawingml/2006/main">
              <a:ext uri="{FF2B5EF4-FFF2-40B4-BE49-F238E27FC236}">
                <a16:creationId xmlns:a16="http://schemas.microsoft.com/office/drawing/2014/main" id="{2A9A240B-2980-4461-976E-6057253EB9C1}"/>
              </a:ext>
            </a:extLst>
          </p:cNvPr>
          <p:cNvSpPr>
            <a:spLocks xmlns:a="http://schemas.openxmlformats.org/drawingml/2006/main" noGrp="1"/>
          </p:cNvSpPr>
          <p:nvPr/>
        </p:nvSpPr>
        <p:spPr>
          <a:xfrm xmlns:a="http://schemas.openxmlformats.org/drawingml/2006/main">
            <a:off x="609600" y="22955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83244"/>
                </a:solidFill>
                <a:latin typeface="Leelawadee UI"/>
                <a:ea typeface="Leelawadee UI"/>
                <a:cs typeface="Leelawadee UI"/>
              </a:defRPr>
            </a:pPr>
            <a:r>
              <a:rPr sz="3150" b="1">
                <a:solidFill>
                  <a:srgbClr val="183244"/>
                </a:solidFill>
                <a:latin typeface="Leelawadee UI"/>
                <a:ea typeface="Leelawadee UI"/>
                <a:cs typeface="Leelawadee UI"/>
              </a:rPr>
              <a:t>BUG_DETECTED</a:t>
            </a:r>
          </a:p>
        </p:txBody>
      </p:sp>
      <p:sp>
        <p:nvSpPr>
          <p:cNvPr id="5" name="">
            <a:extLst xmlns:a="http://schemas.openxmlformats.org/drawingml/2006/main">
              <a:ext uri="{FF2B5EF4-FFF2-40B4-BE49-F238E27FC236}">
                <a16:creationId xmlns:a16="http://schemas.microsoft.com/office/drawing/2014/main" id="{39A62CE0-3F17-475D-BC39-11687078AE38}"/>
              </a:ext>
            </a:extLst>
          </p:cNvPr>
          <p:cNvSpPr>
            <a:spLocks xmlns:a="http://schemas.openxmlformats.org/drawingml/2006/main" noGrp="1"/>
          </p:cNvSpPr>
          <p:nvPr/>
        </p:nvSpPr>
        <p:spPr>
          <a:xfrm xmlns:a="http://schemas.openxmlformats.org/drawingml/2006/main">
            <a:off x="609600" y="2962275"/>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183244"/>
                </a:solidFill>
                <a:latin typeface="Leelawadee UI"/>
                <a:ea typeface="Leelawadee UI"/>
                <a:cs typeface="Leelawadee UI"/>
              </a:defRPr>
            </a:pPr>
            <a:r>
              <a:rPr sz="2550" b="0">
                <a:solidFill>
                  <a:srgbClr val="183244"/>
                </a:solidFill>
                <a:latin typeface="Leelawadee UI"/>
                <a:ea typeface="Leelawadee UI"/>
                <a:cs typeface="Leelawadee UI"/>
              </a:rPr>
              <a:t>test fail บน buggy และ suite ผ่านบน fixed</a:t>
            </a:r>
          </a:p>
        </p:txBody>
      </p:sp>
      <p:sp>
        <p:nvSpPr>
          <p:cNvPr id="6" name="">
            <a:extLst xmlns:a="http://schemas.openxmlformats.org/drawingml/2006/main">
              <a:ext uri="{FF2B5EF4-FFF2-40B4-BE49-F238E27FC236}">
                <a16:creationId xmlns:a16="http://schemas.microsoft.com/office/drawing/2014/main" id="{5B490DB7-FA3A-4CB5-A54D-1F10ED88DE61}"/>
              </a:ext>
            </a:extLst>
          </p:cNvPr>
          <p:cNvSpPr>
            <a:spLocks xmlns:a="http://schemas.openxmlformats.org/drawingml/2006/main" noGrp="1"/>
          </p:cNvSpPr>
          <p:nvPr/>
        </p:nvSpPr>
        <p:spPr>
          <a:xfrm xmlns:a="http://schemas.openxmlformats.org/drawingml/2006/main">
            <a:off x="609600" y="38957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83244"/>
                </a:solidFill>
                <a:latin typeface="Leelawadee UI"/>
                <a:ea typeface="Leelawadee UI"/>
                <a:cs typeface="Leelawadee UI"/>
              </a:defRPr>
            </a:pPr>
            <a:r>
              <a:rPr sz="2400" b="0">
                <a:solidFill>
                  <a:srgbClr val="183244"/>
                </a:solidFill>
                <a:latin typeface="Leelawadee UI"/>
                <a:ea typeface="Leelawadee UI"/>
                <a:cs typeface="Leelawadee UI"/>
              </a:rPr>
              <a:t>FDR = บั๊กที่ตรวจพบ ÷ คู่ที่มี suite และประเมิน</a:t>
            </a:r>
          </a:p>
        </p:txBody>
      </p:sp>
      <p:sp>
        <p:nvSpPr>
          <p:cNvPr id="7" name="">
            <a:extLst xmlns:a="http://schemas.openxmlformats.org/drawingml/2006/main">
              <a:ext uri="{FF2B5EF4-FFF2-40B4-BE49-F238E27FC236}">
                <a16:creationId xmlns:a16="http://schemas.microsoft.com/office/drawing/2014/main" id="{6D6E92B2-824C-47FF-BFF9-518EFC22FB37}"/>
              </a:ext>
            </a:extLst>
          </p:cNvPr>
          <p:cNvSpPr>
            <a:spLocks xmlns:a="http://schemas.openxmlformats.org/drawingml/2006/main" noGrp="1"/>
          </p:cNvSpPr>
          <p:nvPr/>
        </p:nvSpPr>
        <p:spPr>
          <a:xfrm xmlns:a="http://schemas.openxmlformats.org/drawingml/2006/main">
            <a:off x="609600" y="45624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83244"/>
                </a:solidFill>
                <a:latin typeface="Leelawadee UI"/>
                <a:ea typeface="Leelawadee UI"/>
                <a:cs typeface="Leelawadee UI"/>
              </a:defRPr>
            </a:pPr>
            <a:r>
              <a:rPr sz="2175" b="0">
                <a:solidFill>
                  <a:srgbClr val="183244"/>
                </a:solidFill>
                <a:latin typeface="Leelawadee UI"/>
                <a:ea typeface="Leelawadee UI"/>
                <a:cs typeface="Leelawadee UI"/>
              </a:rPr>
              <a:t>Coverage: รวม covered / total ของ modified target classes</a:t>
            </a:r>
          </a:p>
        </p:txBody>
      </p:sp>
      <p:sp>
        <p:nvSpPr>
          <p:cNvPr id="8" name="">
            <a:extLst xmlns:a="http://schemas.openxmlformats.org/drawingml/2006/main">
              <a:ext uri="{FF2B5EF4-FFF2-40B4-BE49-F238E27FC236}">
                <a16:creationId xmlns:a16="http://schemas.microsoft.com/office/drawing/2014/main" id="{33F5287F-532F-40A2-8CAB-3E2448BBBED8}"/>
              </a:ext>
            </a:extLst>
          </p:cNvPr>
          <p:cNvSpPr>
            <a:spLocks xmlns:a="http://schemas.openxmlformats.org/drawingml/2006/main" noGrp="1"/>
          </p:cNvSpPr>
          <p:nvPr/>
        </p:nvSpPr>
        <p:spPr>
          <a:xfrm xmlns:a="http://schemas.openxmlformats.org/drawingml/2006/main">
            <a:off x="609600" y="52768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8707D"/>
                </a:solidFill>
                <a:latin typeface="Leelawadee UI"/>
                <a:ea typeface="Leelawadee UI"/>
                <a:cs typeface="Leelawadee UI"/>
              </a:defRPr>
            </a:pPr>
            <a:r>
              <a:rPr sz="2100" b="0">
                <a:solidFill>
                  <a:srgbClr val="58707D"/>
                </a:solidFill>
                <a:latin typeface="Leelawadee UI"/>
                <a:ea typeface="Leelawadee UI"/>
                <a:cs typeface="Leelawadee UI"/>
              </a:rPr>
              <a:t>ใช้ค่าที่วัดได้ · compile error ไม่แทนด้วย 0 · แยก NO_SUITE</a:t>
            </a:r>
          </a:p>
        </p:txBody>
      </p:sp>
    </p:spTree>
    <p:extLst>
      <p:ext uri="{BB962C8B-B14F-4D97-AF65-F5344CB8AC3E}">
        <p14:creationId xmlns:p14="http://schemas.microsoft.com/office/powerpoint/2010/main" val="486345822"/>
      </p:ext>
    </p:extLst>
  </p:cSld>
</p:sld>
</file>

<file path=ppt/slides/slide6.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7A45AB-29FB-4D18-9AD5-27C70E5AF64F}"/>
              </a:ext>
            </a:extLst>
          </p:cNvPr>
          <p:cNvSpPr>
            <a:spLocks xmlns:a="http://schemas.openxmlformats.org/drawingml/2006/main" noGrp="1"/>
          </p:cNvSpPr>
          <p:nvPr/>
        </p:nvSpPr>
        <p:spPr>
          <a:xfrm xmlns:a="http://schemas.openxmlformats.org/drawingml/2006/main">
            <a:off x="609600" y="4381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83244"/>
                </a:solidFill>
                <a:latin typeface="Leelawadee UI"/>
                <a:ea typeface="Leelawadee UI"/>
                <a:cs typeface="Leelawadee UI"/>
              </a:defRPr>
            </a:pPr>
            <a:r>
              <a:rPr sz="3300" b="1">
                <a:solidFill>
                  <a:srgbClr val="183244"/>
                </a:solidFill>
                <a:latin typeface="Leelawadee UI"/>
                <a:ea typeface="Leelawadee UI"/>
                <a:cs typeface="Leelawadee UI"/>
              </a:rPr>
              <a:t>Coverage ของ suite ที่วัดได้</a:t>
            </a:r>
          </a:p>
        </p:txBody>
      </p:sp>
      <p:sp>
        <p:nvSpPr>
          <p:cNvPr id="2" name="">
            <a:extLst xmlns:a="http://schemas.openxmlformats.org/drawingml/2006/main">
              <a:ext uri="{FF2B5EF4-FFF2-40B4-BE49-F238E27FC236}">
                <a16:creationId xmlns:a16="http://schemas.microsoft.com/office/drawing/2014/main" id="{4A3F3285-2617-4625-90BF-52561E12CE42}"/>
              </a:ext>
            </a:extLst>
          </p:cNvPr>
          <p:cNvSpPr>
            <a:spLocks xmlns:a="http://schemas.openxmlformats.org/drawingml/2006/main" noGrp="1"/>
          </p:cNvSpPr>
          <p:nvPr/>
        </p:nvSpPr>
        <p:spPr>
          <a:xfrm xmlns:a="http://schemas.openxmlformats.org/drawingml/2006/main">
            <a:off x="609600" y="630555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8707D"/>
                </a:solidFill>
                <a:latin typeface="Leelawadee UI"/>
                <a:ea typeface="Leelawadee UI"/>
                <a:cs typeface="Leelawadee UI"/>
              </a:defRPr>
            </a:pPr>
            <a:r>
              <a:rPr sz="1725" b="0">
                <a:solidFill>
                  <a:srgbClr val="58707D"/>
                </a:solidFill>
                <a:latin typeface="Leelawadee UI"/>
                <a:ea typeface="Leelawadee UI"/>
                <a:cs typeface="Leelawadee UI"/>
              </a:rPr>
              <a:t>หลักฐาน: master_benchmark_summary.csv; n เฉพาะผลที่วัดได้   |   06 / 10</a:t>
            </a:r>
          </a:p>
        </p:txBody>
      </p:sp>
      <p:graphicFrame>
        <p:nvGraphicFramePr>
          <p:cNvPr id="10" name="Chart"/>
          <p:cNvGraphicFramePr/>
          <p:nvPr/>
        </p:nvGraphicFramePr>
        <p:xfrm>
          <a:off xmlns:a="http://schemas.openxmlformats.org/drawingml/2006/main" x="514350" y="1638300"/>
          <a:ext xmlns:a="http://schemas.openxmlformats.org/drawingml/2006/main" cx="8048625" cy="4095750"/>
        </p:xfrm>
        <a:graphic xmlns:a="http://schemas.openxmlformats.org/drawingml/2006/main">
          <a:graphicData uri="http://schemas.openxmlformats.org/drawingml/2006/chart">
            <c:chart xmlns:r="http://schemas.openxmlformats.org/officeDocument/2006/relationships" xmlns:c="http://schemas.openxmlformats.org/drawingml/2006/chart" r:id="Ree22cc26c9cf4798"/>
          </a:graphicData>
        </a:graphic>
      </p:graphicFrame>
      <p:sp>
        <p:nvSpPr>
          <p:cNvPr id="4" name="">
            <a:extLst xmlns:a="http://schemas.openxmlformats.org/drawingml/2006/main">
              <a:ext uri="{FF2B5EF4-FFF2-40B4-BE49-F238E27FC236}">
                <a16:creationId xmlns:a16="http://schemas.microsoft.com/office/drawing/2014/main" id="{582855E3-BFE7-428B-9D9A-58186D493B70}"/>
              </a:ext>
            </a:extLst>
          </p:cNvPr>
          <p:cNvSpPr>
            <a:spLocks xmlns:a="http://schemas.openxmlformats.org/drawingml/2006/main" noGrp="1"/>
          </p:cNvSpPr>
          <p:nvPr/>
        </p:nvSpPr>
        <p:spPr>
          <a:xfrm xmlns:a="http://schemas.openxmlformats.org/drawingml/2006/main">
            <a:off x="8934450" y="2066925"/>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087E83"/>
                </a:solidFill>
                <a:latin typeface="Leelawadee UI"/>
                <a:ea typeface="Leelawadee UI"/>
                <a:cs typeface="Leelawadee UI"/>
              </a:defRPr>
            </a:pPr>
            <a:r>
              <a:rPr sz="3000" b="1">
                <a:solidFill>
                  <a:srgbClr val="087E83"/>
                </a:solidFill>
                <a:latin typeface="Leelawadee UI"/>
                <a:ea typeface="Leelawadee UI"/>
                <a:cs typeface="Leelawadee UI"/>
              </a:rPr>
              <a:t>Gemini</a:t>
            </a:r>
          </a:p>
        </p:txBody>
      </p:sp>
      <p:sp>
        <p:nvSpPr>
          <p:cNvPr id="5" name="">
            <a:extLst xmlns:a="http://schemas.openxmlformats.org/drawingml/2006/main">
              <a:ext uri="{FF2B5EF4-FFF2-40B4-BE49-F238E27FC236}">
                <a16:creationId xmlns:a16="http://schemas.microsoft.com/office/drawing/2014/main" id="{9DE32357-F35A-40C8-86DF-6ABBB7DB5818}"/>
              </a:ext>
            </a:extLst>
          </p:cNvPr>
          <p:cNvSpPr>
            <a:spLocks xmlns:a="http://schemas.openxmlformats.org/drawingml/2006/main" noGrp="1"/>
          </p:cNvSpPr>
          <p:nvPr/>
        </p:nvSpPr>
        <p:spPr>
          <a:xfrm xmlns:a="http://schemas.openxmlformats.org/drawingml/2006/main">
            <a:off x="8934450" y="2781300"/>
            <a:ext cx="26860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183244"/>
                </a:solidFill>
                <a:latin typeface="Leelawadee UI"/>
                <a:ea typeface="Leelawadee UI"/>
                <a:cs typeface="Leelawadee UI"/>
              </a:defRPr>
            </a:pPr>
            <a:r>
              <a:rPr sz="2550" b="0">
                <a:solidFill>
                  <a:srgbClr val="183244"/>
                </a:solidFill>
                <a:latin typeface="Leelawadee UI"/>
                <a:ea typeface="Leelawadee UI"/>
                <a:cs typeface="Leelawadee UI"/>
              </a:rPr>
              <a:t>86.29%</a:t>
            </a:r>
          </a:p>
          <a:p xmlns:a="http://schemas.openxmlformats.org/drawingml/2006/main">
            <a:pPr algn="l">
              <a:defRPr sz="2550" b="0">
                <a:solidFill>
                  <a:srgbClr val="183244"/>
                </a:solidFill>
                <a:latin typeface="Leelawadee UI"/>
                <a:ea typeface="Leelawadee UI"/>
                <a:cs typeface="Leelawadee UI"/>
              </a:defRPr>
            </a:pPr>
            <a:r>
              <a:rPr sz="2550" b="0">
                <a:solidFill>
                  <a:srgbClr val="183244"/>
                </a:solidFill>
                <a:latin typeface="Leelawadee UI"/>
                <a:ea typeface="Leelawadee UI"/>
                <a:cs typeface="Leelawadee UI"/>
              </a:rPr>
              <a:t>line coverage</a:t>
            </a:r>
          </a:p>
        </p:txBody>
      </p:sp>
      <p:sp>
        <p:nvSpPr>
          <p:cNvPr id="6" name="">
            <a:extLst xmlns:a="http://schemas.openxmlformats.org/drawingml/2006/main">
              <a:ext uri="{FF2B5EF4-FFF2-40B4-BE49-F238E27FC236}">
                <a16:creationId xmlns:a16="http://schemas.microsoft.com/office/drawing/2014/main" id="{488DF733-5ACD-4CB9-8785-69CD3801D026}"/>
              </a:ext>
            </a:extLst>
          </p:cNvPr>
          <p:cNvSpPr>
            <a:spLocks xmlns:a="http://schemas.openxmlformats.org/drawingml/2006/main" noGrp="1"/>
          </p:cNvSpPr>
          <p:nvPr/>
        </p:nvSpPr>
        <p:spPr>
          <a:xfrm xmlns:a="http://schemas.openxmlformats.org/drawingml/2006/main">
            <a:off x="8934450" y="4086225"/>
            <a:ext cx="26860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83244"/>
                </a:solidFill>
                <a:latin typeface="Leelawadee UI"/>
                <a:ea typeface="Leelawadee UI"/>
                <a:cs typeface="Leelawadee UI"/>
              </a:defRPr>
            </a:pPr>
            <a:r>
              <a:rPr sz="2250" b="0">
                <a:solidFill>
                  <a:srgbClr val="183244"/>
                </a:solidFill>
                <a:latin typeface="Leelawadee UI"/>
                <a:ea typeface="Leelawadee UI"/>
                <a:cs typeface="Leelawadee UI"/>
              </a:rPr>
              <a:t>ค่าเฉลี่ยสูงสุด</a:t>
            </a:r>
          </a:p>
          <a:p xmlns:a="http://schemas.openxmlformats.org/drawingml/2006/main">
            <a:pPr algn="l">
              <a:defRPr sz="2250" b="0">
                <a:solidFill>
                  <a:srgbClr val="183244"/>
                </a:solidFill>
                <a:latin typeface="Leelawadee UI"/>
                <a:ea typeface="Leelawadee UI"/>
                <a:cs typeface="Leelawadee UI"/>
              </a:defRPr>
            </a:pPr>
            <a:r>
              <a:rPr sz="2250" b="0">
                <a:solidFill>
                  <a:srgbClr val="183244"/>
                </a:solidFill>
                <a:latin typeface="Leelawadee UI"/>
                <a:ea typeface="Leelawadee UI"/>
                <a:cs typeface="Leelawadee UI"/>
              </a:rPr>
              <a:t>ในผลที่วัดได้</a:t>
            </a:r>
          </a:p>
        </p:txBody>
      </p:sp>
      <p:sp>
        <p:nvSpPr>
          <p:cNvPr id="7" name="">
            <a:extLst xmlns:a="http://schemas.openxmlformats.org/drawingml/2006/main">
              <a:ext uri="{FF2B5EF4-FFF2-40B4-BE49-F238E27FC236}">
                <a16:creationId xmlns:a16="http://schemas.microsoft.com/office/drawing/2014/main" id="{77EE71B4-2D42-4DDA-948E-49CF151DC559}"/>
              </a:ext>
            </a:extLst>
          </p:cNvPr>
          <p:cNvSpPr>
            <a:spLocks xmlns:a="http://schemas.openxmlformats.org/drawingml/2006/main" noGrp="1"/>
          </p:cNvSpPr>
          <p:nvPr/>
        </p:nvSpPr>
        <p:spPr>
          <a:xfrm xmlns:a="http://schemas.openxmlformats.org/drawingml/2006/main">
            <a:off x="609600" y="5695950"/>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8707D"/>
                </a:solidFill>
                <a:latin typeface="Leelawadee UI"/>
                <a:ea typeface="Leelawadee UI"/>
                <a:cs typeface="Leelawadee UI"/>
              </a:defRPr>
            </a:pPr>
            <a:r>
              <a:rPr sz="1800" b="0">
                <a:solidFill>
                  <a:srgbClr val="58707D"/>
                </a:solidFill>
                <a:latin typeface="Leelawadee UI"/>
                <a:ea typeface="Leelawadee UI"/>
                <a:cs typeface="Leelawadee UI"/>
              </a:rPr>
              <a:t>จำนวนและกลุ่มบั๊กต่างกัน</a:t>
            </a:r>
          </a:p>
          <a:p xmlns:a="http://schemas.openxmlformats.org/drawingml/2006/main">
            <a:pPr algn="l">
              <a:defRPr sz="1800" b="0">
                <a:solidFill>
                  <a:srgbClr val="58707D"/>
                </a:solidFill>
                <a:latin typeface="Leelawadee UI"/>
                <a:ea typeface="Leelawadee UI"/>
                <a:cs typeface="Leelawadee UI"/>
              </a:defRPr>
            </a:pPr>
            <a:r>
              <a:rPr sz="1800" b="0">
                <a:solidFill>
                  <a:srgbClr val="58707D"/>
                </a:solidFill>
                <a:latin typeface="Leelawadee UI"/>
                <a:ea typeface="Leelawadee UI"/>
                <a:cs typeface="Leelawadee UI"/>
              </a:rPr>
              <a:t>ต้องอ่านร่วมกับ compile error</a:t>
            </a:r>
          </a:p>
        </p:txBody>
      </p:sp>
    </p:spTree>
    <p:extLst>
      <p:ext uri="{BB962C8B-B14F-4D97-AF65-F5344CB8AC3E}">
        <p14:creationId xmlns:p14="http://schemas.microsoft.com/office/powerpoint/2010/main" val="2082417725"/>
      </p:ext>
    </p:extLst>
  </p:cSld>
</p:sld>
</file>

<file path=ppt/slides/slide7.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9AF5FA-2C40-43D0-B435-00FB575521E6}"/>
              </a:ext>
            </a:extLst>
          </p:cNvPr>
          <p:cNvSpPr>
            <a:spLocks xmlns:a="http://schemas.openxmlformats.org/drawingml/2006/main" noGrp="1"/>
          </p:cNvSpPr>
          <p:nvPr/>
        </p:nvSpPr>
        <p:spPr>
          <a:xfrm xmlns:a="http://schemas.openxmlformats.org/drawingml/2006/main">
            <a:off x="609600" y="4381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83244"/>
                </a:solidFill>
                <a:latin typeface="Leelawadee UI"/>
                <a:ea typeface="Leelawadee UI"/>
                <a:cs typeface="Leelawadee UI"/>
              </a:defRPr>
            </a:pPr>
            <a:r>
              <a:rPr sz="3300" b="1">
                <a:solidFill>
                  <a:srgbClr val="183244"/>
                </a:solidFill>
                <a:latin typeface="Leelawadee UI"/>
                <a:ea typeface="Leelawadee UI"/>
                <a:cs typeface="Leelawadee UI"/>
              </a:rPr>
              <a:t>Fault detection และ compile error</a:t>
            </a:r>
          </a:p>
        </p:txBody>
      </p:sp>
      <p:sp>
        <p:nvSpPr>
          <p:cNvPr id="2" name="">
            <a:extLst xmlns:a="http://schemas.openxmlformats.org/drawingml/2006/main">
              <a:ext uri="{FF2B5EF4-FFF2-40B4-BE49-F238E27FC236}">
                <a16:creationId xmlns:a16="http://schemas.microsoft.com/office/drawing/2014/main" id="{B12D0A82-FF09-4934-B604-86073AC06812}"/>
              </a:ext>
            </a:extLst>
          </p:cNvPr>
          <p:cNvSpPr>
            <a:spLocks xmlns:a="http://schemas.openxmlformats.org/drawingml/2006/main" noGrp="1"/>
          </p:cNvSpPr>
          <p:nvPr/>
        </p:nvSpPr>
        <p:spPr>
          <a:xfrm xmlns:a="http://schemas.openxmlformats.org/drawingml/2006/main">
            <a:off x="609600" y="630555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8707D"/>
                </a:solidFill>
                <a:latin typeface="Leelawadee UI"/>
                <a:ea typeface="Leelawadee UI"/>
                <a:cs typeface="Leelawadee UI"/>
              </a:defRPr>
            </a:pPr>
            <a:r>
              <a:rPr sz="1725" b="0">
                <a:solidFill>
                  <a:srgbClr val="58707D"/>
                </a:solidFill>
                <a:latin typeface="Leelawadee UI"/>
                <a:ea typeface="Leelawadee UI"/>
                <a:cs typeface="Leelawadee UI"/>
              </a:rPr>
              <a:t>หลักฐาน: master_descriptive_stats.json; FDR นับระดับบั๊กต่อเทคนิค   |   07 / 10</a:t>
            </a:r>
          </a:p>
        </p:txBody>
      </p:sp>
      <p:graphicFrame>
        <p:nvGraphicFramePr>
          <p:cNvPr id="8" name=""/>
          <p:cNvGraphicFramePr/>
          <p:nvPr/>
        </p:nvGraphicFramePr>
        <p:xfrm>
          <a:off xmlns:a="http://schemas.openxmlformats.org/drawingml/2006/main" x="609600" y="1590675"/>
          <a:ext xmlns:a="http://schemas.openxmlformats.org/drawingml/2006/main" cx="10972800" cy="3143250"/>
        </p:xfrm>
        <a:graphic xmlns:a="http://schemas.openxmlformats.org/drawingml/2006/main">
          <a:graphicData uri="http://schemas.openxmlformats.org/drawingml/2006/table">
            <a:tbl>
              <a:tblPr/>
              <a:tblGrid>
                <a:gridCol w="2381250"/>
                <a:gridCol w="3333750"/>
                <a:gridCol w="2000250"/>
                <a:gridCol w="3257550"/>
              </a:tblGrid>
              <a:tr h="628650">
                <a:tc>
                  <a:txBody>
                    <a:bodyPr lIns="133350" tIns="95250" rIns="95250" bIns="95250">
                      <a:noAutofit/>
                    </a:bodyPr>
                    <a:lstStyle/>
                    <a:p>
                      <a:pPr algn="l"/>
                      <a:r>
                        <a:rPr sz="2175" b="1">
                          <a:solidFill>
                            <a:srgbClr val="FFFFFF"/>
                          </a:solidFill>
                          <a:latin typeface="Leelawadee UI"/>
                          <a:ea typeface="Leelawadee UI"/>
                          <a:cs typeface="Leelawadee UI"/>
                        </a:rPr>
                        <a:t>เทคนิค</a:t>
                      </a:r>
                    </a:p>
                  </a:txBody>
                  <a:tcPr marL="91440" marR="91440" marT="45720" marB="45720" anchor="ctr">
                    <a:solidFill>
                      <a:srgbClr val="183244"/>
                    </a:solidFill>
                  </a:tcPr>
                </a:tc>
                <a:tc>
                  <a:txBody>
                    <a:bodyPr lIns="133350" tIns="95250" rIns="95250" bIns="95250">
                      <a:noAutofit/>
                    </a:bodyPr>
                    <a:lstStyle/>
                    <a:p>
                      <a:pPr algn="l"/>
                      <a:r>
                        <a:rPr sz="2175" b="1">
                          <a:solidFill>
                            <a:srgbClr val="FFFFFF"/>
                          </a:solidFill>
                          <a:latin typeface="Leelawadee UI"/>
                          <a:ea typeface="Leelawadee UI"/>
                          <a:cs typeface="Leelawadee UI"/>
                        </a:rPr>
                        <a:t>ตรวจพบ / ประเมิน</a:t>
                      </a:r>
                    </a:p>
                  </a:txBody>
                  <a:tcPr marL="91440" marR="91440" marT="45720" marB="45720" anchor="ctr">
                    <a:solidFill>
                      <a:srgbClr val="183244"/>
                    </a:solidFill>
                  </a:tcPr>
                </a:tc>
                <a:tc>
                  <a:txBody>
                    <a:bodyPr lIns="133350" tIns="95250" rIns="95250" bIns="95250">
                      <a:noAutofit/>
                    </a:bodyPr>
                    <a:lstStyle/>
                    <a:p>
                      <a:pPr algn="l"/>
                      <a:r>
                        <a:rPr sz="2175" b="1">
                          <a:solidFill>
                            <a:srgbClr val="FFFFFF"/>
                          </a:solidFill>
                          <a:latin typeface="Leelawadee UI"/>
                          <a:ea typeface="Leelawadee UI"/>
                          <a:cs typeface="Leelawadee UI"/>
                        </a:rPr>
                        <a:t>FDR</a:t>
                      </a:r>
                    </a:p>
                  </a:txBody>
                  <a:tcPr marL="91440" marR="91440" marT="45720" marB="45720" anchor="ctr">
                    <a:solidFill>
                      <a:srgbClr val="183244"/>
                    </a:solidFill>
                  </a:tcPr>
                </a:tc>
                <a:tc>
                  <a:txBody>
                    <a:bodyPr lIns="133350" tIns="95250" rIns="95250" bIns="95250">
                      <a:noAutofit/>
                    </a:bodyPr>
                    <a:lstStyle/>
                    <a:p>
                      <a:pPr algn="l"/>
                      <a:r>
                        <a:rPr sz="2175" b="1">
                          <a:solidFill>
                            <a:srgbClr val="FFFFFF"/>
                          </a:solidFill>
                          <a:latin typeface="Leelawadee UI"/>
                          <a:ea typeface="Leelawadee UI"/>
                          <a:cs typeface="Leelawadee UI"/>
                        </a:rPr>
                        <a:t>Compile error</a:t>
                      </a:r>
                    </a:p>
                  </a:txBody>
                  <a:tcPr marL="91440" marR="91440" marT="45720" marB="45720" anchor="ctr">
                    <a:solidFill>
                      <a:srgbClr val="183244"/>
                    </a:solidFill>
                  </a:tcPr>
                </a:tc>
              </a:tr>
              <a:tr h="628650">
                <a:tc>
                  <a:txBody>
                    <a:bodyPr lIns="133350" tIns="95250" rIns="95250" bIns="95250">
                      <a:noAutofit/>
                    </a:bodyPr>
                    <a:lstStyle/>
                    <a:p>
                      <a:pPr algn="l"/>
                      <a:r>
                        <a:rPr sz="2175" b="0">
                          <a:solidFill>
                            <a:srgbClr val="183244"/>
                          </a:solidFill>
                          <a:latin typeface="Leelawadee UI"/>
                          <a:ea typeface="Leelawadee UI"/>
                          <a:cs typeface="Leelawadee UI"/>
                        </a:rPr>
                        <a:t>Native IPO</a:t>
                      </a:r>
                    </a:p>
                  </a:txBody>
                  <a:tcPr marL="91440" marR="91440" marT="45720" marB="45720" anchor="ctr">
                    <a:solidFill>
                      <a:srgbClr val="FFFFFF"/>
                    </a:solidFill>
                  </a:tcPr>
                </a:tc>
                <a:tc>
                  <a:txBody>
                    <a:bodyPr lIns="133350" tIns="95250" rIns="95250" bIns="95250">
                      <a:noAutofit/>
                    </a:bodyPr>
                    <a:lstStyle/>
                    <a:p>
                      <a:pPr algn="l"/>
                      <a:r>
                        <a:rPr sz="2175" b="0">
                          <a:solidFill>
                            <a:srgbClr val="183244"/>
                          </a:solidFill>
                          <a:latin typeface="Leelawadee UI"/>
                          <a:ea typeface="Leelawadee UI"/>
                          <a:cs typeface="Leelawadee UI"/>
                        </a:rPr>
                        <a:t>37 / 257</a:t>
                      </a:r>
                    </a:p>
                  </a:txBody>
                  <a:tcPr marL="91440" marR="91440" marT="45720" marB="45720" anchor="ctr">
                    <a:solidFill>
                      <a:srgbClr val="FFFFFF"/>
                    </a:solidFill>
                  </a:tcPr>
                </a:tc>
                <a:tc>
                  <a:txBody>
                    <a:bodyPr lIns="133350" tIns="95250" rIns="95250" bIns="95250">
                      <a:noAutofit/>
                    </a:bodyPr>
                    <a:lstStyle/>
                    <a:p>
                      <a:pPr algn="l"/>
                      <a:r>
                        <a:rPr sz="2175" b="0">
                          <a:solidFill>
                            <a:srgbClr val="183244"/>
                          </a:solidFill>
                          <a:latin typeface="Leelawadee UI"/>
                          <a:ea typeface="Leelawadee UI"/>
                          <a:cs typeface="Leelawadee UI"/>
                        </a:rPr>
                        <a:t>14.40%</a:t>
                      </a:r>
                    </a:p>
                  </a:txBody>
                  <a:tcPr marL="91440" marR="91440" marT="45720" marB="45720" anchor="ctr">
                    <a:solidFill>
                      <a:srgbClr val="FFFFFF"/>
                    </a:solidFill>
                  </a:tcPr>
                </a:tc>
                <a:tc>
                  <a:txBody>
                    <a:bodyPr lIns="133350" tIns="95250" rIns="95250" bIns="95250">
                      <a:noAutofit/>
                    </a:bodyPr>
                    <a:lstStyle/>
                    <a:p>
                      <a:pPr algn="l"/>
                      <a:r>
                        <a:rPr sz="2175" b="0">
                          <a:solidFill>
                            <a:srgbClr val="183244"/>
                          </a:solidFill>
                          <a:latin typeface="Leelawadee UI"/>
                          <a:ea typeface="Leelawadee UI"/>
                          <a:cs typeface="Leelawadee UI"/>
                        </a:rPr>
                        <a:t>5 / 257</a:t>
                      </a:r>
                    </a:p>
                  </a:txBody>
                  <a:tcPr marL="91440" marR="91440" marT="45720" marB="45720" anchor="ctr">
                    <a:solidFill>
                      <a:srgbClr val="FFFFFF"/>
                    </a:solidFill>
                  </a:tcPr>
                </a:tc>
              </a:tr>
              <a:tr h="628650">
                <a:tc>
                  <a:txBody>
                    <a:bodyPr lIns="133350" tIns="95250" rIns="95250" bIns="95250">
                      <a:noAutofit/>
                    </a:bodyPr>
                    <a:lstStyle/>
                    <a:p>
                      <a:pPr algn="l"/>
                      <a:r>
                        <a:rPr sz="2175" b="0">
                          <a:solidFill>
                            <a:srgbClr val="183244"/>
                          </a:solidFill>
                          <a:latin typeface="Leelawadee UI"/>
                          <a:ea typeface="Leelawadee UI"/>
                          <a:cs typeface="Leelawadee UI"/>
                        </a:rPr>
                        <a:t>MIO</a:t>
                      </a:r>
                    </a:p>
                  </a:txBody>
                  <a:tcPr marL="91440" marR="91440" marT="45720" marB="45720" anchor="ctr">
                    <a:solidFill>
                      <a:srgbClr val="E5F0EE"/>
                    </a:solidFill>
                  </a:tcPr>
                </a:tc>
                <a:tc>
                  <a:txBody>
                    <a:bodyPr lIns="133350" tIns="95250" rIns="95250" bIns="95250">
                      <a:noAutofit/>
                    </a:bodyPr>
                    <a:lstStyle/>
                    <a:p>
                      <a:pPr algn="l"/>
                      <a:r>
                        <a:rPr sz="2175" b="0">
                          <a:solidFill>
                            <a:srgbClr val="183244"/>
                          </a:solidFill>
                          <a:latin typeface="Leelawadee UI"/>
                          <a:ea typeface="Leelawadee UI"/>
                          <a:cs typeface="Leelawadee UI"/>
                        </a:rPr>
                        <a:t>5 / 834</a:t>
                      </a:r>
                    </a:p>
                  </a:txBody>
                  <a:tcPr marL="91440" marR="91440" marT="45720" marB="45720" anchor="ctr">
                    <a:solidFill>
                      <a:srgbClr val="E5F0EE"/>
                    </a:solidFill>
                  </a:tcPr>
                </a:tc>
                <a:tc>
                  <a:txBody>
                    <a:bodyPr lIns="133350" tIns="95250" rIns="95250" bIns="95250">
                      <a:noAutofit/>
                    </a:bodyPr>
                    <a:lstStyle/>
                    <a:p>
                      <a:pPr algn="l"/>
                      <a:r>
                        <a:rPr sz="2175" b="0">
                          <a:solidFill>
                            <a:srgbClr val="183244"/>
                          </a:solidFill>
                          <a:latin typeface="Leelawadee UI"/>
                          <a:ea typeface="Leelawadee UI"/>
                          <a:cs typeface="Leelawadee UI"/>
                        </a:rPr>
                        <a:t>0.60%</a:t>
                      </a:r>
                    </a:p>
                  </a:txBody>
                  <a:tcPr marL="91440" marR="91440" marT="45720" marB="45720" anchor="ctr">
                    <a:solidFill>
                      <a:srgbClr val="E5F0EE"/>
                    </a:solidFill>
                  </a:tcPr>
                </a:tc>
                <a:tc>
                  <a:txBody>
                    <a:bodyPr lIns="133350" tIns="95250" rIns="95250" bIns="95250">
                      <a:noAutofit/>
                    </a:bodyPr>
                    <a:lstStyle/>
                    <a:p>
                      <a:pPr algn="l"/>
                      <a:r>
                        <a:rPr sz="2175" b="0">
                          <a:solidFill>
                            <a:srgbClr val="183244"/>
                          </a:solidFill>
                          <a:latin typeface="Leelawadee UI"/>
                          <a:ea typeface="Leelawadee UI"/>
                          <a:cs typeface="Leelawadee UI"/>
                        </a:rPr>
                        <a:t>37 / 834</a:t>
                      </a:r>
                    </a:p>
                  </a:txBody>
                  <a:tcPr marL="91440" marR="91440" marT="45720" marB="45720" anchor="ctr">
                    <a:solidFill>
                      <a:srgbClr val="E5F0EE"/>
                    </a:solidFill>
                  </a:tcPr>
                </a:tc>
              </a:tr>
              <a:tr h="628650">
                <a:tc>
                  <a:txBody>
                    <a:bodyPr lIns="133350" tIns="95250" rIns="95250" bIns="95250">
                      <a:noAutofit/>
                    </a:bodyPr>
                    <a:lstStyle/>
                    <a:p>
                      <a:pPr algn="l"/>
                      <a:r>
                        <a:rPr sz="2175" b="0">
                          <a:solidFill>
                            <a:srgbClr val="183244"/>
                          </a:solidFill>
                          <a:latin typeface="Leelawadee UI"/>
                          <a:ea typeface="Leelawadee UI"/>
                          <a:cs typeface="Leelawadee UI"/>
                        </a:rPr>
                        <a:t>DeepSeek</a:t>
                      </a:r>
                    </a:p>
                  </a:txBody>
                  <a:tcPr marL="91440" marR="91440" marT="45720" marB="45720" anchor="ctr">
                    <a:solidFill>
                      <a:srgbClr val="FFFFFF"/>
                    </a:solidFill>
                  </a:tcPr>
                </a:tc>
                <a:tc>
                  <a:txBody>
                    <a:bodyPr lIns="133350" tIns="95250" rIns="95250" bIns="95250">
                      <a:noAutofit/>
                    </a:bodyPr>
                    <a:lstStyle/>
                    <a:p>
                      <a:pPr algn="l"/>
                      <a:r>
                        <a:rPr sz="2175" b="0">
                          <a:solidFill>
                            <a:srgbClr val="183244"/>
                          </a:solidFill>
                          <a:latin typeface="Leelawadee UI"/>
                          <a:ea typeface="Leelawadee UI"/>
                          <a:cs typeface="Leelawadee UI"/>
                        </a:rPr>
                        <a:t>11 / 853</a:t>
                      </a:r>
                    </a:p>
                  </a:txBody>
                  <a:tcPr marL="91440" marR="91440" marT="45720" marB="45720" anchor="ctr">
                    <a:solidFill>
                      <a:srgbClr val="FFFFFF"/>
                    </a:solidFill>
                  </a:tcPr>
                </a:tc>
                <a:tc>
                  <a:txBody>
                    <a:bodyPr lIns="133350" tIns="95250" rIns="95250" bIns="95250">
                      <a:noAutofit/>
                    </a:bodyPr>
                    <a:lstStyle/>
                    <a:p>
                      <a:pPr algn="l"/>
                      <a:r>
                        <a:rPr sz="2175" b="0">
                          <a:solidFill>
                            <a:srgbClr val="183244"/>
                          </a:solidFill>
                          <a:latin typeface="Leelawadee UI"/>
                          <a:ea typeface="Leelawadee UI"/>
                          <a:cs typeface="Leelawadee UI"/>
                        </a:rPr>
                        <a:t>1.29%</a:t>
                      </a:r>
                    </a:p>
                  </a:txBody>
                  <a:tcPr marL="91440" marR="91440" marT="45720" marB="45720" anchor="ctr">
                    <a:solidFill>
                      <a:srgbClr val="FFFFFF"/>
                    </a:solidFill>
                  </a:tcPr>
                </a:tc>
                <a:tc>
                  <a:txBody>
                    <a:bodyPr lIns="133350" tIns="95250" rIns="95250" bIns="95250">
                      <a:noAutofit/>
                    </a:bodyPr>
                    <a:lstStyle/>
                    <a:p>
                      <a:pPr algn="l"/>
                      <a:r>
                        <a:rPr sz="2175" b="0">
                          <a:solidFill>
                            <a:srgbClr val="183244"/>
                          </a:solidFill>
                          <a:latin typeface="Leelawadee UI"/>
                          <a:ea typeface="Leelawadee UI"/>
                          <a:cs typeface="Leelawadee UI"/>
                        </a:rPr>
                        <a:t>661 / 853</a:t>
                      </a:r>
                    </a:p>
                  </a:txBody>
                  <a:tcPr marL="91440" marR="91440" marT="45720" marB="45720" anchor="ctr">
                    <a:solidFill>
                      <a:srgbClr val="FFFFFF"/>
                    </a:solidFill>
                  </a:tcPr>
                </a:tc>
              </a:tr>
              <a:tr h="628650">
                <a:tc>
                  <a:txBody>
                    <a:bodyPr lIns="133350" tIns="95250" rIns="95250" bIns="95250">
                      <a:noAutofit/>
                    </a:bodyPr>
                    <a:lstStyle/>
                    <a:p>
                      <a:pPr algn="l"/>
                      <a:r>
                        <a:rPr sz="2175" b="0">
                          <a:solidFill>
                            <a:srgbClr val="183244"/>
                          </a:solidFill>
                          <a:latin typeface="Leelawadee UI"/>
                          <a:ea typeface="Leelawadee UI"/>
                          <a:cs typeface="Leelawadee UI"/>
                        </a:rPr>
                        <a:t>Gemini</a:t>
                      </a:r>
                    </a:p>
                  </a:txBody>
                  <a:tcPr marL="91440" marR="91440" marT="45720" marB="45720" anchor="ctr">
                    <a:solidFill>
                      <a:srgbClr val="E5F0EE"/>
                    </a:solidFill>
                  </a:tcPr>
                </a:tc>
                <a:tc>
                  <a:txBody>
                    <a:bodyPr lIns="133350" tIns="95250" rIns="95250" bIns="95250">
                      <a:noAutofit/>
                    </a:bodyPr>
                    <a:lstStyle/>
                    <a:p>
                      <a:pPr algn="l"/>
                      <a:r>
                        <a:rPr sz="2175" b="0">
                          <a:solidFill>
                            <a:srgbClr val="183244"/>
                          </a:solidFill>
                          <a:latin typeface="Leelawadee UI"/>
                          <a:ea typeface="Leelawadee UI"/>
                          <a:cs typeface="Leelawadee UI"/>
                        </a:rPr>
                        <a:t>107 / 853</a:t>
                      </a:r>
                    </a:p>
                  </a:txBody>
                  <a:tcPr marL="91440" marR="91440" marT="45720" marB="45720" anchor="ctr">
                    <a:solidFill>
                      <a:srgbClr val="E5F0EE"/>
                    </a:solidFill>
                  </a:tcPr>
                </a:tc>
                <a:tc>
                  <a:txBody>
                    <a:bodyPr lIns="133350" tIns="95250" rIns="95250" bIns="95250">
                      <a:noAutofit/>
                    </a:bodyPr>
                    <a:lstStyle/>
                    <a:p>
                      <a:pPr algn="l"/>
                      <a:r>
                        <a:rPr sz="2175" b="0">
                          <a:solidFill>
                            <a:srgbClr val="183244"/>
                          </a:solidFill>
                          <a:latin typeface="Leelawadee UI"/>
                          <a:ea typeface="Leelawadee UI"/>
                          <a:cs typeface="Leelawadee UI"/>
                        </a:rPr>
                        <a:t>12.54%</a:t>
                      </a:r>
                    </a:p>
                  </a:txBody>
                  <a:tcPr marL="91440" marR="91440" marT="45720" marB="45720" anchor="ctr">
                    <a:solidFill>
                      <a:srgbClr val="E5F0EE"/>
                    </a:solidFill>
                  </a:tcPr>
                </a:tc>
                <a:tc>
                  <a:txBody>
                    <a:bodyPr lIns="133350" tIns="95250" rIns="95250" bIns="95250">
                      <a:noAutofit/>
                    </a:bodyPr>
                    <a:lstStyle/>
                    <a:p>
                      <a:pPr algn="l"/>
                      <a:r>
                        <a:rPr sz="2175" b="0">
                          <a:solidFill>
                            <a:srgbClr val="183244"/>
                          </a:solidFill>
                          <a:latin typeface="Leelawadee UI"/>
                          <a:ea typeface="Leelawadee UI"/>
                          <a:cs typeface="Leelawadee UI"/>
                        </a:rPr>
                        <a:t>429 / 853</a:t>
                      </a:r>
                    </a:p>
                  </a:txBody>
                  <a:tcPr marL="91440" marR="91440" marT="45720" marB="45720" anchor="ctr">
                    <a:solidFill>
                      <a:srgbClr val="E5F0EE"/>
                    </a:solidFill>
                  </a:tcPr>
                </a:tc>
              </a:tr>
            </a:tbl>
          </a:graphicData>
        </a:graphic>
      </p:graphicFrame>
      <p:sp>
        <p:nvSpPr>
          <p:cNvPr id="4" name="">
            <a:extLst xmlns:a="http://schemas.openxmlformats.org/drawingml/2006/main">
              <a:ext uri="{FF2B5EF4-FFF2-40B4-BE49-F238E27FC236}">
                <a16:creationId xmlns:a16="http://schemas.microsoft.com/office/drawing/2014/main" id="{A6CB545D-B3F6-4031-AA42-40DEA6EBDBEB}"/>
              </a:ext>
            </a:extLst>
          </p:cNvPr>
          <p:cNvSpPr>
            <a:spLocks xmlns:a="http://schemas.openxmlformats.org/drawingml/2006/main" noGrp="1"/>
          </p:cNvSpPr>
          <p:nvPr/>
        </p:nvSpPr>
        <p:spPr>
          <a:xfrm xmlns:a="http://schemas.openxmlformats.org/drawingml/2006/main">
            <a:off x="609600" y="5143500"/>
            <a:ext cx="1095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087E83"/>
                </a:solidFill>
                <a:latin typeface="Leelawadee UI"/>
                <a:ea typeface="Leelawadee UI"/>
                <a:cs typeface="Leelawadee UI"/>
              </a:defRPr>
            </a:pPr>
            <a:r>
              <a:rPr sz="2400" b="1">
                <a:solidFill>
                  <a:srgbClr val="087E83"/>
                </a:solidFill>
                <a:latin typeface="Leelawadee UI"/>
                <a:ea typeface="Leelawadee UI"/>
                <a:cs typeface="Leelawadee UI"/>
              </a:rPr>
              <a:t>Union: 144 บั๊กไม่ซ้ำ / 853 บั๊กที่มี suite (16.88%)</a:t>
            </a:r>
          </a:p>
        </p:txBody>
      </p:sp>
      <p:sp>
        <p:nvSpPr>
          <p:cNvPr id="5" name="">
            <a:extLst xmlns:a="http://schemas.openxmlformats.org/drawingml/2006/main">
              <a:ext uri="{FF2B5EF4-FFF2-40B4-BE49-F238E27FC236}">
                <a16:creationId xmlns:a16="http://schemas.microsoft.com/office/drawing/2014/main" id="{BB7ACCD2-B137-49E7-A13B-23382B82432E}"/>
              </a:ext>
            </a:extLst>
          </p:cNvPr>
          <p:cNvSpPr>
            <a:spLocks xmlns:a="http://schemas.openxmlformats.org/drawingml/2006/main" noGrp="1"/>
          </p:cNvSpPr>
          <p:nvPr/>
        </p:nvSpPr>
        <p:spPr>
          <a:xfrm xmlns:a="http://schemas.openxmlformats.org/drawingml/2006/main">
            <a:off x="609600" y="57531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8707D"/>
                </a:solidFill>
                <a:latin typeface="Leelawadee UI"/>
                <a:ea typeface="Leelawadee UI"/>
                <a:cs typeface="Leelawadee UI"/>
              </a:defRPr>
            </a:pPr>
            <a:r>
              <a:rPr sz="1875" b="0">
                <a:solidFill>
                  <a:srgbClr val="58707D"/>
                </a:solidFill>
                <a:latin typeface="Leelawadee UI"/>
                <a:ea typeface="Leelawadee UI"/>
                <a:cs typeface="Leelawadee UI"/>
              </a:rPr>
              <a:t>รวมผลตรวจจับเดิม · FDR ข้างต้นไม่รวม 619 คู่ NO_SUITE</a:t>
            </a:r>
          </a:p>
        </p:txBody>
      </p:sp>
    </p:spTree>
    <p:extLst>
      <p:ext uri="{BB962C8B-B14F-4D97-AF65-F5344CB8AC3E}">
        <p14:creationId xmlns:p14="http://schemas.microsoft.com/office/powerpoint/2010/main" val="1651315972"/>
      </p:ext>
    </p:extLst>
  </p:cSld>
</p:sld>
</file>

<file path=ppt/slides/slide8.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463092-CF26-46C3-B2AA-0BA16DA29328}"/>
              </a:ext>
            </a:extLst>
          </p:cNvPr>
          <p:cNvSpPr>
            <a:spLocks xmlns:a="http://schemas.openxmlformats.org/drawingml/2006/main" noGrp="1"/>
          </p:cNvSpPr>
          <p:nvPr/>
        </p:nvSpPr>
        <p:spPr>
          <a:xfrm xmlns:a="http://schemas.openxmlformats.org/drawingml/2006/main">
            <a:off x="609600" y="4381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83244"/>
                </a:solidFill>
                <a:latin typeface="Leelawadee UI"/>
                <a:ea typeface="Leelawadee UI"/>
                <a:cs typeface="Leelawadee UI"/>
              </a:defRPr>
            </a:pPr>
            <a:r>
              <a:rPr sz="3300" b="1">
                <a:solidFill>
                  <a:srgbClr val="183244"/>
                </a:solidFill>
                <a:latin typeface="Leelawadee UI"/>
                <a:ea typeface="Leelawadee UI"/>
                <a:cs typeface="Leelawadee UI"/>
              </a:rPr>
              <a:t>ต้นทุนการสร้างและข้อจำกัด</a:t>
            </a:r>
          </a:p>
        </p:txBody>
      </p:sp>
      <p:sp>
        <p:nvSpPr>
          <p:cNvPr id="2" name="">
            <a:extLst xmlns:a="http://schemas.openxmlformats.org/drawingml/2006/main">
              <a:ext uri="{FF2B5EF4-FFF2-40B4-BE49-F238E27FC236}">
                <a16:creationId xmlns:a16="http://schemas.microsoft.com/office/drawing/2014/main" id="{BACFDA13-AAC7-4F1F-ACE1-D3CB878F288A}"/>
              </a:ext>
            </a:extLst>
          </p:cNvPr>
          <p:cNvSpPr>
            <a:spLocks xmlns:a="http://schemas.openxmlformats.org/drawingml/2006/main" noGrp="1"/>
          </p:cNvSpPr>
          <p:nvPr/>
        </p:nvSpPr>
        <p:spPr>
          <a:xfrm xmlns:a="http://schemas.openxmlformats.org/drawingml/2006/main">
            <a:off x="609600" y="630555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8707D"/>
                </a:solidFill>
                <a:latin typeface="Leelawadee UI"/>
                <a:ea typeface="Leelawadee UI"/>
                <a:cs typeface="Leelawadee UI"/>
              </a:defRPr>
            </a:pPr>
            <a:r>
              <a:rPr sz="1725" b="0">
                <a:solidFill>
                  <a:srgbClr val="58707D"/>
                </a:solidFill>
                <a:latin typeface="Leelawadee UI"/>
                <a:ea typeface="Leelawadee UI"/>
                <a:cs typeface="Leelawadee UI"/>
              </a:rPr>
              <a:t>หลักฐาน: advanced_analytics.json และ suite_gap_audit.csv   |   08 / 10</a:t>
            </a:r>
          </a:p>
        </p:txBody>
      </p:sp>
      <p:sp>
        <p:nvSpPr>
          <p:cNvPr id="3" name="">
            <a:extLst xmlns:a="http://schemas.openxmlformats.org/drawingml/2006/main">
              <a:ext uri="{FF2B5EF4-FFF2-40B4-BE49-F238E27FC236}">
                <a16:creationId xmlns:a16="http://schemas.microsoft.com/office/drawing/2014/main" id="{342131D5-A59B-42B7-899F-E84D4E77304B}"/>
              </a:ext>
            </a:extLst>
          </p:cNvPr>
          <p:cNvSpPr>
            <a:spLocks xmlns:a="http://schemas.openxmlformats.org/drawingml/2006/main" noGrp="1"/>
          </p:cNvSpPr>
          <p:nvPr/>
        </p:nvSpPr>
        <p:spPr>
          <a:xfrm xmlns:a="http://schemas.openxmlformats.org/drawingml/2006/main">
            <a:off x="609600" y="15430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1">
                <a:solidFill>
                  <a:srgbClr val="087E83"/>
                </a:solidFill>
                <a:latin typeface="Leelawadee UI"/>
                <a:ea typeface="Leelawadee UI"/>
                <a:cs typeface="Leelawadee UI"/>
              </a:defRPr>
            </a:pPr>
            <a:r>
              <a:rPr sz="2625" b="1">
                <a:solidFill>
                  <a:srgbClr val="087E83"/>
                </a:solidFill>
                <a:latin typeface="Leelawadee UI"/>
                <a:ea typeface="Leelawadee UI"/>
                <a:cs typeface="Leelawadee UI"/>
              </a:rPr>
              <a:t>MIO: budget 30 → 120 วินาที</a:t>
            </a:r>
          </a:p>
        </p:txBody>
      </p:sp>
      <p:sp>
        <p:nvSpPr>
          <p:cNvPr id="4" name="">
            <a:extLst xmlns:a="http://schemas.openxmlformats.org/drawingml/2006/main">
              <a:ext uri="{FF2B5EF4-FFF2-40B4-BE49-F238E27FC236}">
                <a16:creationId xmlns:a16="http://schemas.microsoft.com/office/drawing/2014/main" id="{2C8E4931-46C2-4C1B-861A-C78BB09D1796}"/>
              </a:ext>
            </a:extLst>
          </p:cNvPr>
          <p:cNvSpPr>
            <a:spLocks xmlns:a="http://schemas.openxmlformats.org/drawingml/2006/main" noGrp="1"/>
          </p:cNvSpPr>
          <p:nvPr/>
        </p:nvSpPr>
        <p:spPr>
          <a:xfrm xmlns:a="http://schemas.openxmlformats.org/drawingml/2006/main">
            <a:off x="609600" y="218122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83244"/>
                </a:solidFill>
                <a:latin typeface="Leelawadee UI"/>
                <a:ea typeface="Leelawadee UI"/>
                <a:cs typeface="Leelawadee UI"/>
              </a:defRPr>
            </a:pPr>
            <a:r>
              <a:rPr sz="2175" b="0">
                <a:solidFill>
                  <a:srgbClr val="183244"/>
                </a:solidFill>
                <a:latin typeface="Leelawadee UI"/>
                <a:ea typeface="Leelawadee UI"/>
                <a:cs typeface="Leelawadee UI"/>
              </a:rPr>
              <a:t>Generation coverage 65.73% → 70.82%   (n = 1,023 / 989)</a:t>
            </a:r>
          </a:p>
        </p:txBody>
      </p:sp>
      <p:graphicFrame>
        <p:nvGraphicFramePr>
          <p:cNvPr id="12" name=""/>
          <p:cNvGraphicFramePr/>
          <p:nvPr/>
        </p:nvGraphicFramePr>
        <p:xfrm>
          <a:off xmlns:a="http://schemas.openxmlformats.org/drawingml/2006/main" x="609600" y="3048000"/>
          <a:ext xmlns:a="http://schemas.openxmlformats.org/drawingml/2006/main" cx="10972800" cy="1771650"/>
        </p:xfrm>
        <a:graphic xmlns:a="http://schemas.openxmlformats.org/drawingml/2006/main">
          <a:graphicData uri="http://schemas.openxmlformats.org/drawingml/2006/table">
            <a:tbl>
              <a:tblPr/>
              <a:tblGrid>
                <a:gridCol w="3667125"/>
                <a:gridCol w="3952875"/>
                <a:gridCol w="3352800"/>
              </a:tblGrid>
              <a:tr h="590550">
                <a:tc>
                  <a:txBody>
                    <a:bodyPr lIns="133350" tIns="95250" rIns="95250" bIns="95250">
                      <a:noAutofit/>
                    </a:bodyPr>
                    <a:lstStyle/>
                    <a:p>
                      <a:pPr algn="l"/>
                      <a:r>
                        <a:rPr sz="2175" b="1">
                          <a:solidFill>
                            <a:srgbClr val="FFFFFF"/>
                          </a:solidFill>
                          <a:latin typeface="Leelawadee UI"/>
                          <a:ea typeface="Leelawadee UI"/>
                          <a:cs typeface="Leelawadee UI"/>
                        </a:rPr>
                        <a:t>AI generation</a:t>
                      </a:r>
                    </a:p>
                  </a:txBody>
                  <a:tcPr marL="91440" marR="91440" marT="45720" marB="45720" anchor="ctr">
                    <a:solidFill>
                      <a:srgbClr val="183244"/>
                    </a:solidFill>
                  </a:tcPr>
                </a:tc>
                <a:tc>
                  <a:txBody>
                    <a:bodyPr lIns="133350" tIns="95250" rIns="95250" bIns="95250">
                      <a:noAutofit/>
                    </a:bodyPr>
                    <a:lstStyle/>
                    <a:p>
                      <a:pPr algn="l"/>
                      <a:r>
                        <a:rPr sz="2175" b="1">
                          <a:solidFill>
                            <a:srgbClr val="FFFFFF"/>
                          </a:solidFill>
                          <a:latin typeface="Leelawadee UI"/>
                          <a:ea typeface="Leelawadee UI"/>
                          <a:cs typeface="Leelawadee UI"/>
                        </a:rPr>
                        <a:t>เวลาเฉลี่ย / record</a:t>
                      </a:r>
                    </a:p>
                  </a:txBody>
                  <a:tcPr marL="91440" marR="91440" marT="45720" marB="45720" anchor="ctr">
                    <a:solidFill>
                      <a:srgbClr val="183244"/>
                    </a:solidFill>
                  </a:tcPr>
                </a:tc>
                <a:tc>
                  <a:txBody>
                    <a:bodyPr lIns="133350" tIns="95250" rIns="95250" bIns="95250">
                      <a:noAutofit/>
                    </a:bodyPr>
                    <a:lstStyle/>
                    <a:p>
                      <a:pPr algn="l"/>
                      <a:r>
                        <a:rPr sz="2175" b="1">
                          <a:solidFill>
                            <a:srgbClr val="FFFFFF"/>
                          </a:solidFill>
                          <a:latin typeface="Leelawadee UI"/>
                          <a:ea typeface="Leelawadee UI"/>
                          <a:cs typeface="Leelawadee UI"/>
                        </a:rPr>
                        <a:t>จำนวน records</a:t>
                      </a:r>
                    </a:p>
                  </a:txBody>
                  <a:tcPr marL="91440" marR="91440" marT="45720" marB="45720" anchor="ctr">
                    <a:solidFill>
                      <a:srgbClr val="183244"/>
                    </a:solidFill>
                  </a:tcPr>
                </a:tc>
              </a:tr>
              <a:tr h="590550">
                <a:tc>
                  <a:txBody>
                    <a:bodyPr lIns="133350" tIns="95250" rIns="95250" bIns="95250">
                      <a:noAutofit/>
                    </a:bodyPr>
                    <a:lstStyle/>
                    <a:p>
                      <a:pPr algn="l"/>
                      <a:r>
                        <a:rPr sz="2175" b="0">
                          <a:solidFill>
                            <a:srgbClr val="183244"/>
                          </a:solidFill>
                          <a:latin typeface="Leelawadee UI"/>
                          <a:ea typeface="Leelawadee UI"/>
                          <a:cs typeface="Leelawadee UI"/>
                        </a:rPr>
                        <a:t>DeepSeek</a:t>
                      </a:r>
                    </a:p>
                  </a:txBody>
                  <a:tcPr marL="91440" marR="91440" marT="45720" marB="45720" anchor="ctr">
                    <a:solidFill>
                      <a:srgbClr val="FFFFFF"/>
                    </a:solidFill>
                  </a:tcPr>
                </a:tc>
                <a:tc>
                  <a:txBody>
                    <a:bodyPr lIns="133350" tIns="95250" rIns="95250" bIns="95250">
                      <a:noAutofit/>
                    </a:bodyPr>
                    <a:lstStyle/>
                    <a:p>
                      <a:pPr algn="l"/>
                      <a:r>
                        <a:rPr sz="2175" b="0">
                          <a:solidFill>
                            <a:srgbClr val="183244"/>
                          </a:solidFill>
                          <a:latin typeface="Leelawadee UI"/>
                          <a:ea typeface="Leelawadee UI"/>
                          <a:cs typeface="Leelawadee UI"/>
                        </a:rPr>
                        <a:t>295.54 วินาที</a:t>
                      </a:r>
                    </a:p>
                  </a:txBody>
                  <a:tcPr marL="91440" marR="91440" marT="45720" marB="45720" anchor="ctr">
                    <a:solidFill>
                      <a:srgbClr val="FFFFFF"/>
                    </a:solidFill>
                  </a:tcPr>
                </a:tc>
                <a:tc>
                  <a:txBody>
                    <a:bodyPr lIns="133350" tIns="95250" rIns="95250" bIns="95250">
                      <a:noAutofit/>
                    </a:bodyPr>
                    <a:lstStyle/>
                    <a:p>
                      <a:pPr algn="l"/>
                      <a:r>
                        <a:rPr sz="2175" b="0">
                          <a:solidFill>
                            <a:srgbClr val="183244"/>
                          </a:solidFill>
                          <a:latin typeface="Leelawadee UI"/>
                          <a:ea typeface="Leelawadee UI"/>
                          <a:cs typeface="Leelawadee UI"/>
                        </a:rPr>
                        <a:t>1,082</a:t>
                      </a:r>
                    </a:p>
                  </a:txBody>
                  <a:tcPr marL="91440" marR="91440" marT="45720" marB="45720" anchor="ctr">
                    <a:solidFill>
                      <a:srgbClr val="FFFFFF"/>
                    </a:solidFill>
                  </a:tcPr>
                </a:tc>
              </a:tr>
              <a:tr h="590550">
                <a:tc>
                  <a:txBody>
                    <a:bodyPr lIns="133350" tIns="95250" rIns="95250" bIns="95250">
                      <a:noAutofit/>
                    </a:bodyPr>
                    <a:lstStyle/>
                    <a:p>
                      <a:pPr algn="l"/>
                      <a:r>
                        <a:rPr sz="2175" b="0">
                          <a:solidFill>
                            <a:srgbClr val="183244"/>
                          </a:solidFill>
                          <a:latin typeface="Leelawadee UI"/>
                          <a:ea typeface="Leelawadee UI"/>
                          <a:cs typeface="Leelawadee UI"/>
                        </a:rPr>
                        <a:t>Gemini</a:t>
                      </a:r>
                    </a:p>
                  </a:txBody>
                  <a:tcPr marL="91440" marR="91440" marT="45720" marB="45720" anchor="ctr">
                    <a:solidFill>
                      <a:srgbClr val="E5F0EE"/>
                    </a:solidFill>
                  </a:tcPr>
                </a:tc>
                <a:tc>
                  <a:txBody>
                    <a:bodyPr lIns="133350" tIns="95250" rIns="95250" bIns="95250">
                      <a:noAutofit/>
                    </a:bodyPr>
                    <a:lstStyle/>
                    <a:p>
                      <a:pPr algn="l"/>
                      <a:r>
                        <a:rPr sz="2175" b="0">
                          <a:solidFill>
                            <a:srgbClr val="183244"/>
                          </a:solidFill>
                          <a:latin typeface="Leelawadee UI"/>
                          <a:ea typeface="Leelawadee UI"/>
                          <a:cs typeface="Leelawadee UI"/>
                        </a:rPr>
                        <a:t>89.78 วินาที</a:t>
                      </a:r>
                    </a:p>
                  </a:txBody>
                  <a:tcPr marL="91440" marR="91440" marT="45720" marB="45720" anchor="ctr">
                    <a:solidFill>
                      <a:srgbClr val="E5F0EE"/>
                    </a:solidFill>
                  </a:tcPr>
                </a:tc>
                <a:tc>
                  <a:txBody>
                    <a:bodyPr lIns="133350" tIns="95250" rIns="95250" bIns="95250">
                      <a:noAutofit/>
                    </a:bodyPr>
                    <a:lstStyle/>
                    <a:p>
                      <a:pPr algn="l"/>
                      <a:r>
                        <a:rPr sz="2175" b="0">
                          <a:solidFill>
                            <a:srgbClr val="183244"/>
                          </a:solidFill>
                          <a:latin typeface="Leelawadee UI"/>
                          <a:ea typeface="Leelawadee UI"/>
                          <a:cs typeface="Leelawadee UI"/>
                        </a:rPr>
                        <a:t>1,079</a:t>
                      </a:r>
                    </a:p>
                  </a:txBody>
                  <a:tcPr marL="91440" marR="91440" marT="45720" marB="45720" anchor="ctr">
                    <a:solidFill>
                      <a:srgbClr val="E5F0EE"/>
                    </a:solidFill>
                  </a:tcPr>
                </a:tc>
              </a:tr>
            </a:tbl>
          </a:graphicData>
        </a:graphic>
      </p:graphicFrame>
      <p:sp>
        <p:nvSpPr>
          <p:cNvPr id="6" name="">
            <a:extLst xmlns:a="http://schemas.openxmlformats.org/drawingml/2006/main">
              <a:ext uri="{FF2B5EF4-FFF2-40B4-BE49-F238E27FC236}">
                <a16:creationId xmlns:a16="http://schemas.microsoft.com/office/drawing/2014/main" id="{C0A104AC-B9F8-43EC-9EA9-19FAE34E05AA}"/>
              </a:ext>
            </a:extLst>
          </p:cNvPr>
          <p:cNvSpPr>
            <a:spLocks xmlns:a="http://schemas.openxmlformats.org/drawingml/2006/main" noGrp="1"/>
          </p:cNvSpPr>
          <p:nvPr/>
        </p:nvSpPr>
        <p:spPr>
          <a:xfrm xmlns:a="http://schemas.openxmlformats.org/drawingml/2006/main">
            <a:off x="609600" y="5200650"/>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BC5A43"/>
                </a:solidFill>
                <a:latin typeface="Leelawadee UI"/>
                <a:ea typeface="Leelawadee UI"/>
                <a:cs typeface="Leelawadee UI"/>
              </a:defRPr>
            </a:pPr>
            <a:r>
              <a:rPr sz="2175" b="1">
                <a:solidFill>
                  <a:srgbClr val="BC5A43"/>
                </a:solidFill>
                <a:latin typeface="Leelawadee UI"/>
                <a:ea typeface="Leelawadee UI"/>
                <a:cs typeface="Leelawadee UI"/>
              </a:rPr>
              <a:t>619 คู่ไม่มี suite: IPO 597 · MIO 20 · AI อย่างละ 1</a:t>
            </a:r>
          </a:p>
        </p:txBody>
      </p:sp>
      <p:sp>
        <p:nvSpPr>
          <p:cNvPr id="7" name="">
            <a:extLst xmlns:a="http://schemas.openxmlformats.org/drawingml/2006/main">
              <a:ext uri="{FF2B5EF4-FFF2-40B4-BE49-F238E27FC236}">
                <a16:creationId xmlns:a16="http://schemas.microsoft.com/office/drawing/2014/main" id="{4217E1BF-8AE8-483B-9293-B63809542A4D}"/>
              </a:ext>
            </a:extLst>
          </p:cNvPr>
          <p:cNvSpPr>
            <a:spLocks xmlns:a="http://schemas.openxmlformats.org/drawingml/2006/main" noGrp="1"/>
          </p:cNvSpPr>
          <p:nvPr/>
        </p:nvSpPr>
        <p:spPr>
          <a:xfrm xmlns:a="http://schemas.openxmlformats.org/drawingml/2006/main">
            <a:off x="609600" y="5762625"/>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8707D"/>
                </a:solidFill>
                <a:latin typeface="Leelawadee UI"/>
                <a:ea typeface="Leelawadee UI"/>
                <a:cs typeface="Leelawadee UI"/>
              </a:defRPr>
            </a:pPr>
            <a:r>
              <a:rPr sz="1875" b="0">
                <a:solidFill>
                  <a:srgbClr val="58707D"/>
                </a:solidFill>
                <a:latin typeface="Leelawadee UI"/>
                <a:ea typeface="Leelawadee UI"/>
                <a:cs typeface="Leelawadee UI"/>
              </a:rPr>
              <a:t>Generation แยกจาก FDR; dependency, oracle และ compile มีผล</a:t>
            </a:r>
          </a:p>
        </p:txBody>
      </p:sp>
    </p:spTree>
    <p:extLst>
      <p:ext uri="{BB962C8B-B14F-4D97-AF65-F5344CB8AC3E}">
        <p14:creationId xmlns:p14="http://schemas.microsoft.com/office/powerpoint/2010/main" val="2001103057"/>
      </p:ext>
    </p:extLst>
  </p:cSld>
</p:sld>
</file>

<file path=ppt/slides/slide9.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CA9B444-0CE3-4F52-BD63-6FB7DF41EC49}"/>
              </a:ext>
            </a:extLst>
          </p:cNvPr>
          <p:cNvSpPr>
            <a:spLocks xmlns:a="http://schemas.openxmlformats.org/drawingml/2006/main" noGrp="1"/>
          </p:cNvSpPr>
          <p:nvPr/>
        </p:nvSpPr>
        <p:spPr>
          <a:xfrm xmlns:a="http://schemas.openxmlformats.org/drawingml/2006/main">
            <a:off x="609600" y="4381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83244"/>
                </a:solidFill>
                <a:latin typeface="Leelawadee UI"/>
                <a:ea typeface="Leelawadee UI"/>
                <a:cs typeface="Leelawadee UI"/>
              </a:defRPr>
            </a:pPr>
            <a:r>
              <a:rPr sz="3300" b="1">
                <a:solidFill>
                  <a:srgbClr val="183244"/>
                </a:solidFill>
                <a:latin typeface="Leelawadee UI"/>
                <a:ea typeface="Leelawadee UI"/>
                <a:cs typeface="Leelawadee UI"/>
              </a:rPr>
              <a:t>เดโมจริงทั้งสี่เทคนิค</a:t>
            </a:r>
          </a:p>
        </p:txBody>
      </p:sp>
      <p:sp>
        <p:nvSpPr>
          <p:cNvPr id="2" name="">
            <a:extLst xmlns:a="http://schemas.openxmlformats.org/drawingml/2006/main">
              <a:ext uri="{FF2B5EF4-FFF2-40B4-BE49-F238E27FC236}">
                <a16:creationId xmlns:a16="http://schemas.microsoft.com/office/drawing/2014/main" id="{10059CD8-850D-44E0-B39A-756200A19D23}"/>
              </a:ext>
            </a:extLst>
          </p:cNvPr>
          <p:cNvSpPr>
            <a:spLocks xmlns:a="http://schemas.openxmlformats.org/drawingml/2006/main" noGrp="1"/>
          </p:cNvSpPr>
          <p:nvPr/>
        </p:nvSpPr>
        <p:spPr>
          <a:xfrm xmlns:a="http://schemas.openxmlformats.org/drawingml/2006/main">
            <a:off x="609600" y="630555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8707D"/>
                </a:solidFill>
                <a:latin typeface="Leelawadee UI"/>
                <a:ea typeface="Leelawadee UI"/>
                <a:cs typeface="Leelawadee UI"/>
              </a:defRPr>
            </a:pPr>
            <a:r>
              <a:rPr sz="1725" b="0">
                <a:solidFill>
                  <a:srgbClr val="58707D"/>
                </a:solidFill>
                <a:latin typeface="Leelawadee UI"/>
                <a:ea typeface="Leelawadee UI"/>
                <a:cs typeface="Leelawadee UI"/>
              </a:rPr>
              <a:t>ช่วงเดโม 2:30 นาที · output สดเป็นผลของรอบที่นำเสนอ   |   09 / 10</a:t>
            </a:r>
          </a:p>
        </p:txBody>
      </p:sp>
      <p:sp>
        <p:nvSpPr>
          <p:cNvPr id="3" name="">
            <a:extLst xmlns:a="http://schemas.openxmlformats.org/drawingml/2006/main">
              <a:ext uri="{FF2B5EF4-FFF2-40B4-BE49-F238E27FC236}">
                <a16:creationId xmlns:a16="http://schemas.microsoft.com/office/drawing/2014/main" id="{957410A9-E1C6-4ACD-A3E6-C4B2E962C6CE}"/>
              </a:ext>
            </a:extLst>
          </p:cNvPr>
          <p:cNvSpPr>
            <a:spLocks xmlns:a="http://schemas.openxmlformats.org/drawingml/2006/main" noGrp="1"/>
          </p:cNvSpPr>
          <p:nvPr/>
        </p:nvSpPr>
        <p:spPr>
          <a:xfrm xmlns:a="http://schemas.openxmlformats.org/drawingml/2006/main">
            <a:off x="609600" y="14097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087E83"/>
                </a:solidFill>
                <a:latin typeface="Leelawadee UI"/>
                <a:ea typeface="Leelawadee UI"/>
                <a:cs typeface="Leelawadee UI"/>
              </a:defRPr>
            </a:pPr>
            <a:r>
              <a:rPr sz="2550" b="1">
                <a:solidFill>
                  <a:srgbClr val="087E83"/>
                </a:solidFill>
                <a:latin typeface="Leelawadee UI"/>
                <a:ea typeface="Leelawadee UI"/>
                <a:cs typeface="Leelawadee UI"/>
              </a:rPr>
              <a:t>.\scripts\demo_four_techniques.ps1</a:t>
            </a:r>
          </a:p>
        </p:txBody>
      </p:sp>
      <p:graphicFrame>
        <p:nvGraphicFramePr>
          <p:cNvPr id="10" name=""/>
          <p:cNvGraphicFramePr/>
          <p:nvPr/>
        </p:nvGraphicFramePr>
        <p:xfrm>
          <a:off xmlns:a="http://schemas.openxmlformats.org/drawingml/2006/main" x="609600" y="2228850"/>
          <a:ext xmlns:a="http://schemas.openxmlformats.org/drawingml/2006/main" cx="10972800" cy="2857500"/>
        </p:xfrm>
        <a:graphic xmlns:a="http://schemas.openxmlformats.org/drawingml/2006/main">
          <a:graphicData uri="http://schemas.openxmlformats.org/drawingml/2006/table">
            <a:tbl>
              <a:tblPr/>
              <a:tblGrid>
                <a:gridCol w="3857625"/>
                <a:gridCol w="3619500"/>
                <a:gridCol w="3495675"/>
              </a:tblGrid>
              <a:tr h="571500">
                <a:tc>
                  <a:txBody>
                    <a:bodyPr lIns="133350" tIns="95250" rIns="95250" bIns="95250">
                      <a:noAutofit/>
                    </a:bodyPr>
                    <a:lstStyle/>
                    <a:p>
                      <a:pPr algn="l"/>
                      <a:r>
                        <a:rPr sz="2025" b="1">
                          <a:solidFill>
                            <a:srgbClr val="FFFFFF"/>
                          </a:solidFill>
                          <a:latin typeface="Leelawadee UI"/>
                          <a:ea typeface="Leelawadee UI"/>
                          <a:cs typeface="Leelawadee UI"/>
                        </a:rPr>
                        <a:t>เทคนิค / ตัวอย่าง</a:t>
                      </a:r>
                    </a:p>
                  </a:txBody>
                  <a:tcPr marL="91440" marR="91440" marT="45720" marB="45720" anchor="ctr">
                    <a:solidFill>
                      <a:srgbClr val="183244"/>
                    </a:solidFill>
                  </a:tcPr>
                </a:tc>
                <a:tc>
                  <a:txBody>
                    <a:bodyPr lIns="133350" tIns="95250" rIns="95250" bIns="95250">
                      <a:noAutofit/>
                    </a:bodyPr>
                    <a:lstStyle/>
                    <a:p>
                      <a:pPr algn="l"/>
                      <a:r>
                        <a:rPr sz="2025" b="1">
                          <a:solidFill>
                            <a:srgbClr val="FFFFFF"/>
                          </a:solidFill>
                          <a:latin typeface="Leelawadee UI"/>
                          <a:ea typeface="Leelawadee UI"/>
                          <a:cs typeface="Leelawadee UI"/>
                        </a:rPr>
                        <a:t>Buggy fail → fixed fail</a:t>
                      </a:r>
                    </a:p>
                  </a:txBody>
                  <a:tcPr marL="91440" marR="91440" marT="45720" marB="45720" anchor="ctr">
                    <a:solidFill>
                      <a:srgbClr val="183244"/>
                    </a:solidFill>
                  </a:tcPr>
                </a:tc>
                <a:tc>
                  <a:txBody>
                    <a:bodyPr lIns="133350" tIns="95250" rIns="95250" bIns="95250">
                      <a:noAutofit/>
                    </a:bodyPr>
                    <a:lstStyle/>
                    <a:p>
                      <a:pPr algn="l"/>
                      <a:r>
                        <a:rPr sz="2025" b="1">
                          <a:solidFill>
                            <a:srgbClr val="FFFFFF"/>
                          </a:solidFill>
                          <a:latin typeface="Leelawadee UI"/>
                          <a:ea typeface="Leelawadee UI"/>
                          <a:cs typeface="Leelawadee UI"/>
                        </a:rPr>
                        <a:t>ผลรอบก่อน</a:t>
                      </a:r>
                    </a:p>
                  </a:txBody>
                  <a:tcPr marL="91440" marR="91440" marT="45720" marB="45720" anchor="ctr">
                    <a:solidFill>
                      <a:srgbClr val="183244"/>
                    </a:solidFill>
                  </a:tcPr>
                </a:tc>
              </a:tr>
              <a:tr h="571500">
                <a:tc>
                  <a:txBody>
                    <a:bodyPr lIns="133350" tIns="95250" rIns="95250" bIns="95250">
                      <a:noAutofit/>
                    </a:bodyPr>
                    <a:lstStyle/>
                    <a:p>
                      <a:pPr algn="l"/>
                      <a:r>
                        <a:rPr sz="2025" b="0">
                          <a:solidFill>
                            <a:srgbClr val="183244"/>
                          </a:solidFill>
                          <a:latin typeface="Leelawadee UI"/>
                          <a:ea typeface="Leelawadee UI"/>
                          <a:cs typeface="Leelawadee UI"/>
                        </a:rPr>
                        <a:t>IPO / Chart-14</a:t>
                      </a:r>
                    </a:p>
                  </a:txBody>
                  <a:tcPr marL="91440" marR="91440" marT="45720" marB="45720" anchor="ctr">
                    <a:solidFill>
                      <a:srgbClr val="FFFFFF"/>
                    </a:solidFill>
                  </a:tcPr>
                </a:tc>
                <a:tc>
                  <a:txBody>
                    <a:bodyPr lIns="133350" tIns="95250" rIns="95250" bIns="95250">
                      <a:noAutofit/>
                    </a:bodyPr>
                    <a:lstStyle/>
                    <a:p>
                      <a:pPr algn="l"/>
                      <a:r>
                        <a:rPr sz="2025" b="0">
                          <a:solidFill>
                            <a:srgbClr val="183244"/>
                          </a:solidFill>
                          <a:latin typeface="Leelawadee UI"/>
                          <a:ea typeface="Leelawadee UI"/>
                          <a:cs typeface="Leelawadee UI"/>
                        </a:rPr>
                        <a:t>48 → 0</a:t>
                      </a:r>
                    </a:p>
                  </a:txBody>
                  <a:tcPr marL="91440" marR="91440" marT="45720" marB="45720" anchor="ctr">
                    <a:solidFill>
                      <a:srgbClr val="FFFFFF"/>
                    </a:solidFill>
                  </a:tcPr>
                </a:tc>
                <a:tc>
                  <a:txBody>
                    <a:bodyPr lIns="133350" tIns="95250" rIns="95250" bIns="95250">
                      <a:noAutofit/>
                    </a:bodyPr>
                    <a:lstStyle/>
                    <a:p>
                      <a:pPr algn="l"/>
                      <a:r>
                        <a:rPr sz="2025" b="0">
                          <a:solidFill>
                            <a:srgbClr val="183244"/>
                          </a:solidFill>
                          <a:latin typeface="Leelawadee UI"/>
                          <a:ea typeface="Leelawadee UI"/>
                          <a:cs typeface="Leelawadee UI"/>
                        </a:rPr>
                        <a:t>BUG_DETECTED</a:t>
                      </a:r>
                    </a:p>
                  </a:txBody>
                  <a:tcPr marL="91440" marR="91440" marT="45720" marB="45720" anchor="ctr">
                    <a:solidFill>
                      <a:srgbClr val="FFFFFF"/>
                    </a:solidFill>
                  </a:tcPr>
                </a:tc>
              </a:tr>
              <a:tr h="571500">
                <a:tc>
                  <a:txBody>
                    <a:bodyPr lIns="133350" tIns="95250" rIns="95250" bIns="95250">
                      <a:noAutofit/>
                    </a:bodyPr>
                    <a:lstStyle/>
                    <a:p>
                      <a:pPr algn="l"/>
                      <a:r>
                        <a:rPr sz="2025" b="0">
                          <a:solidFill>
                            <a:srgbClr val="183244"/>
                          </a:solidFill>
                          <a:latin typeface="Leelawadee UI"/>
                          <a:ea typeface="Leelawadee UI"/>
                          <a:cs typeface="Leelawadee UI"/>
                        </a:rPr>
                        <a:t>MIO / Jsoup-45</a:t>
                      </a:r>
                    </a:p>
                  </a:txBody>
                  <a:tcPr marL="91440" marR="91440" marT="45720" marB="45720" anchor="ctr">
                    <a:solidFill>
                      <a:srgbClr val="E5F0EE"/>
                    </a:solidFill>
                  </a:tcPr>
                </a:tc>
                <a:tc>
                  <a:txBody>
                    <a:bodyPr lIns="133350" tIns="95250" rIns="95250" bIns="95250">
                      <a:noAutofit/>
                    </a:bodyPr>
                    <a:lstStyle/>
                    <a:p>
                      <a:pPr algn="l"/>
                      <a:r>
                        <a:rPr sz="2025" b="0">
                          <a:solidFill>
                            <a:srgbClr val="183244"/>
                          </a:solidFill>
                          <a:latin typeface="Leelawadee UI"/>
                          <a:ea typeface="Leelawadee UI"/>
                          <a:cs typeface="Leelawadee UI"/>
                        </a:rPr>
                        <a:t>0 → 0</a:t>
                      </a:r>
                    </a:p>
                  </a:txBody>
                  <a:tcPr marL="91440" marR="91440" marT="45720" marB="45720" anchor="ctr">
                    <a:solidFill>
                      <a:srgbClr val="E5F0EE"/>
                    </a:solidFill>
                  </a:tcPr>
                </a:tc>
                <a:tc>
                  <a:txBody>
                    <a:bodyPr lIns="133350" tIns="95250" rIns="95250" bIns="95250">
                      <a:noAutofit/>
                    </a:bodyPr>
                    <a:lstStyle/>
                    <a:p>
                      <a:pPr algn="l"/>
                      <a:r>
                        <a:rPr sz="2025" b="0">
                          <a:solidFill>
                            <a:srgbClr val="183244"/>
                          </a:solidFill>
                          <a:latin typeface="Leelawadee UI"/>
                          <a:ea typeface="Leelawadee UI"/>
                          <a:cs typeface="Leelawadee UI"/>
                        </a:rPr>
                        <a:t>NOT_DETECTED</a:t>
                      </a:r>
                    </a:p>
                  </a:txBody>
                  <a:tcPr marL="91440" marR="91440" marT="45720" marB="45720" anchor="ctr">
                    <a:solidFill>
                      <a:srgbClr val="E5F0EE"/>
                    </a:solidFill>
                  </a:tcPr>
                </a:tc>
              </a:tr>
              <a:tr h="571500">
                <a:tc>
                  <a:txBody>
                    <a:bodyPr lIns="133350" tIns="95250" rIns="95250" bIns="95250">
                      <a:noAutofit/>
                    </a:bodyPr>
                    <a:lstStyle/>
                    <a:p>
                      <a:pPr algn="l"/>
                      <a:r>
                        <a:rPr sz="2025" b="0">
                          <a:solidFill>
                            <a:srgbClr val="183244"/>
                          </a:solidFill>
                          <a:latin typeface="Leelawadee UI"/>
                          <a:ea typeface="Leelawadee UI"/>
                          <a:cs typeface="Leelawadee UI"/>
                        </a:rPr>
                        <a:t>DeepSeek / Closure-105</a:t>
                      </a:r>
                    </a:p>
                  </a:txBody>
                  <a:tcPr marL="91440" marR="91440" marT="45720" marB="45720" anchor="ctr">
                    <a:solidFill>
                      <a:srgbClr val="FFFFFF"/>
                    </a:solidFill>
                  </a:tcPr>
                </a:tc>
                <a:tc>
                  <a:txBody>
                    <a:bodyPr lIns="133350" tIns="95250" rIns="95250" bIns="95250">
                      <a:noAutofit/>
                    </a:bodyPr>
                    <a:lstStyle/>
                    <a:p>
                      <a:pPr algn="l"/>
                      <a:r>
                        <a:rPr sz="2025" b="0">
                          <a:solidFill>
                            <a:srgbClr val="183244"/>
                          </a:solidFill>
                          <a:latin typeface="Leelawadee UI"/>
                          <a:ea typeface="Leelawadee UI"/>
                          <a:cs typeface="Leelawadee UI"/>
                        </a:rPr>
                        <a:t>2 → 0</a:t>
                      </a:r>
                    </a:p>
                  </a:txBody>
                  <a:tcPr marL="91440" marR="91440" marT="45720" marB="45720" anchor="ctr">
                    <a:solidFill>
                      <a:srgbClr val="FFFFFF"/>
                    </a:solidFill>
                  </a:tcPr>
                </a:tc>
                <a:tc>
                  <a:txBody>
                    <a:bodyPr lIns="133350" tIns="95250" rIns="95250" bIns="95250">
                      <a:noAutofit/>
                    </a:bodyPr>
                    <a:lstStyle/>
                    <a:p>
                      <a:pPr algn="l"/>
                      <a:r>
                        <a:rPr sz="2025" b="0">
                          <a:solidFill>
                            <a:srgbClr val="183244"/>
                          </a:solidFill>
                          <a:latin typeface="Leelawadee UI"/>
                          <a:ea typeface="Leelawadee UI"/>
                          <a:cs typeface="Leelawadee UI"/>
                        </a:rPr>
                        <a:t>BUG_DETECTED</a:t>
                      </a:r>
                    </a:p>
                  </a:txBody>
                  <a:tcPr marL="91440" marR="91440" marT="45720" marB="45720" anchor="ctr">
                    <a:solidFill>
                      <a:srgbClr val="FFFFFF"/>
                    </a:solidFill>
                  </a:tcPr>
                </a:tc>
              </a:tr>
              <a:tr h="571500">
                <a:tc>
                  <a:txBody>
                    <a:bodyPr lIns="133350" tIns="95250" rIns="95250" bIns="95250">
                      <a:noAutofit/>
                    </a:bodyPr>
                    <a:lstStyle/>
                    <a:p>
                      <a:pPr algn="l"/>
                      <a:r>
                        <a:rPr sz="2025" b="0">
                          <a:solidFill>
                            <a:srgbClr val="183244"/>
                          </a:solidFill>
                          <a:latin typeface="Leelawadee UI"/>
                          <a:ea typeface="Leelawadee UI"/>
                          <a:cs typeface="Leelawadee UI"/>
                        </a:rPr>
                        <a:t>Gemini / Chart-3</a:t>
                      </a:r>
                    </a:p>
                  </a:txBody>
                  <a:tcPr marL="91440" marR="91440" marT="45720" marB="45720" anchor="ctr">
                    <a:solidFill>
                      <a:srgbClr val="E5F0EE"/>
                    </a:solidFill>
                  </a:tcPr>
                </a:tc>
                <a:tc>
                  <a:txBody>
                    <a:bodyPr lIns="133350" tIns="95250" rIns="95250" bIns="95250">
                      <a:noAutofit/>
                    </a:bodyPr>
                    <a:lstStyle/>
                    <a:p>
                      <a:pPr algn="l"/>
                      <a:r>
                        <a:rPr sz="2025" b="0">
                          <a:solidFill>
                            <a:srgbClr val="183244"/>
                          </a:solidFill>
                          <a:latin typeface="Leelawadee UI"/>
                          <a:ea typeface="Leelawadee UI"/>
                          <a:cs typeface="Leelawadee UI"/>
                        </a:rPr>
                        <a:t>2 → 0</a:t>
                      </a:r>
                    </a:p>
                  </a:txBody>
                  <a:tcPr marL="91440" marR="91440" marT="45720" marB="45720" anchor="ctr">
                    <a:solidFill>
                      <a:srgbClr val="E5F0EE"/>
                    </a:solidFill>
                  </a:tcPr>
                </a:tc>
                <a:tc>
                  <a:txBody>
                    <a:bodyPr lIns="133350" tIns="95250" rIns="95250" bIns="95250">
                      <a:noAutofit/>
                    </a:bodyPr>
                    <a:lstStyle/>
                    <a:p>
                      <a:pPr algn="l"/>
                      <a:r>
                        <a:rPr sz="2025" b="0">
                          <a:solidFill>
                            <a:srgbClr val="183244"/>
                          </a:solidFill>
                          <a:latin typeface="Leelawadee UI"/>
                          <a:ea typeface="Leelawadee UI"/>
                          <a:cs typeface="Leelawadee UI"/>
                        </a:rPr>
                        <a:t>BUG_DETECTED</a:t>
                      </a:r>
                    </a:p>
                  </a:txBody>
                  <a:tcPr marL="91440" marR="91440" marT="45720" marB="45720" anchor="ctr">
                    <a:solidFill>
                      <a:srgbClr val="E5F0EE"/>
                    </a:solidFill>
                  </a:tcPr>
                </a:tc>
              </a:tr>
            </a:tbl>
          </a:graphicData>
        </a:graphic>
      </p:graphicFrame>
      <p:sp>
        <p:nvSpPr>
          <p:cNvPr id="5" name="">
            <a:extLst xmlns:a="http://schemas.openxmlformats.org/drawingml/2006/main">
              <a:ext uri="{FF2B5EF4-FFF2-40B4-BE49-F238E27FC236}">
                <a16:creationId xmlns:a16="http://schemas.microsoft.com/office/drawing/2014/main" id="{0A2ADF7B-395A-4014-BC59-4C87EAF0B827}"/>
              </a:ext>
            </a:extLst>
          </p:cNvPr>
          <p:cNvSpPr>
            <a:spLocks xmlns:a="http://schemas.openxmlformats.org/drawingml/2006/main" noGrp="1"/>
          </p:cNvSpPr>
          <p:nvPr/>
        </p:nvSpPr>
        <p:spPr>
          <a:xfrm xmlns:a="http://schemas.openxmlformats.org/drawingml/2006/main">
            <a:off x="609600" y="54292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183244"/>
                </a:solidFill>
                <a:latin typeface="Leelawadee UI"/>
                <a:ea typeface="Leelawadee UI"/>
                <a:cs typeface="Leelawadee UI"/>
              </a:defRPr>
            </a:pPr>
            <a:r>
              <a:rPr sz="2325" b="1">
                <a:solidFill>
                  <a:srgbClr val="183244"/>
                </a:solidFill>
                <a:latin typeface="Leelawadee UI"/>
                <a:ea typeface="Leelawadee UI"/>
                <a:cs typeface="Leelawadee UI"/>
              </a:rPr>
              <a:t>ชี้ suite · coverage · buggy/fixed · run ID และ hash</a:t>
            </a:r>
          </a:p>
        </p:txBody>
      </p:sp>
      <p:sp>
        <p:nvSpPr>
          <p:cNvPr id="6" name="">
            <a:extLst xmlns:a="http://schemas.openxmlformats.org/drawingml/2006/main">
              <a:ext uri="{FF2B5EF4-FFF2-40B4-BE49-F238E27FC236}">
                <a16:creationId xmlns:a16="http://schemas.microsoft.com/office/drawing/2014/main" id="{DC7E9A6D-664D-4035-9719-9EF578DFC5FD}"/>
              </a:ext>
            </a:extLst>
          </p:cNvPr>
          <p:cNvSpPr>
            <a:spLocks xmlns:a="http://schemas.openxmlformats.org/drawingml/2006/main" noGrp="1"/>
          </p:cNvSpPr>
          <p:nvPr/>
        </p:nvSpPr>
        <p:spPr>
          <a:xfrm xmlns:a="http://schemas.openxmlformats.org/drawingml/2006/main">
            <a:off x="609600" y="59150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8707D"/>
                </a:solidFill>
                <a:latin typeface="Leelawadee UI"/>
                <a:ea typeface="Leelawadee UI"/>
                <a:cs typeface="Leelawadee UI"/>
              </a:defRPr>
            </a:pPr>
            <a:r>
              <a:rPr sz="1800" b="0">
                <a:solidFill>
                  <a:srgbClr val="58707D"/>
                </a:solidFill>
                <a:latin typeface="Leelawadee UI"/>
                <a:ea typeface="Leelawadee UI"/>
                <a:cs typeface="Leelawadee UI"/>
              </a:rPr>
              <a:t>ใช้ suite ที่สร้างไว้แล้ว · เป็นสี่กรณีตัวอย่างต่างบั๊ก</a:t>
            </a:r>
          </a:p>
        </p:txBody>
      </p:sp>
    </p:spTree>
    <p:extLst>
      <p:ext uri="{BB962C8B-B14F-4D97-AF65-F5344CB8AC3E}">
        <p14:creationId xmlns:p14="http://schemas.microsoft.com/office/powerpoint/2010/main" val="903624257"/>
      </p:ext>
    </p:extLst>
  </p:cSld>
</p:sld>
</file>

<file path=ppt/slides/slide10.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0BAF8D-222A-4D4C-89EB-3F54ED5251D0}"/>
              </a:ext>
            </a:extLst>
          </p:cNvPr>
          <p:cNvSpPr>
            <a:spLocks xmlns:a="http://schemas.openxmlformats.org/drawingml/2006/main" noGrp="1"/>
          </p:cNvSpPr>
          <p:nvPr/>
        </p:nvSpPr>
        <p:spPr>
          <a:xfrm xmlns:a="http://schemas.openxmlformats.org/drawingml/2006/main">
            <a:off x="609600" y="4381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83244"/>
                </a:solidFill>
                <a:latin typeface="Leelawadee UI"/>
                <a:ea typeface="Leelawadee UI"/>
                <a:cs typeface="Leelawadee UI"/>
              </a:defRPr>
            </a:pPr>
            <a:r>
              <a:rPr sz="3300" b="1">
                <a:solidFill>
                  <a:srgbClr val="183244"/>
                </a:solidFill>
                <a:latin typeface="Leelawadee UI"/>
                <a:ea typeface="Leelawadee UI"/>
                <a:cs typeface="Leelawadee UI"/>
              </a:rPr>
              <a:t>บทเรียนและหลักฐานสำหรับทำซ้ำ</a:t>
            </a:r>
          </a:p>
        </p:txBody>
      </p:sp>
      <p:sp>
        <p:nvSpPr>
          <p:cNvPr id="2" name="">
            <a:extLst xmlns:a="http://schemas.openxmlformats.org/drawingml/2006/main">
              <a:ext uri="{FF2B5EF4-FFF2-40B4-BE49-F238E27FC236}">
                <a16:creationId xmlns:a16="http://schemas.microsoft.com/office/drawing/2014/main" id="{E8D19C34-FC9C-4B49-910D-1E799F9B248B}"/>
              </a:ext>
            </a:extLst>
          </p:cNvPr>
          <p:cNvSpPr>
            <a:spLocks xmlns:a="http://schemas.openxmlformats.org/drawingml/2006/main" noGrp="1"/>
          </p:cNvSpPr>
          <p:nvPr/>
        </p:nvSpPr>
        <p:spPr>
          <a:xfrm xmlns:a="http://schemas.openxmlformats.org/drawingml/2006/main">
            <a:off x="609600" y="630555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8707D"/>
                </a:solidFill>
                <a:latin typeface="Leelawadee UI"/>
                <a:ea typeface="Leelawadee UI"/>
                <a:cs typeface="Leelawadee UI"/>
              </a:defRPr>
            </a:pPr>
            <a:r>
              <a:rPr sz="1725" b="0">
                <a:solidFill>
                  <a:srgbClr val="58707D"/>
                </a:solidFill>
                <a:latin typeface="Leelawadee UI"/>
                <a:ea typeface="Leelawadee UI"/>
                <a:cs typeface="Leelawadee UI"/>
              </a:rPr>
              <a:t>CP353201 · รายงาน, source, tests, prompts และ logs อยู่ใน repository   |   10 / 10</a:t>
            </a:r>
          </a:p>
        </p:txBody>
      </p:sp>
      <p:sp>
        <p:nvSpPr>
          <p:cNvPr id="3" name="">
            <a:extLst xmlns:a="http://schemas.openxmlformats.org/drawingml/2006/main">
              <a:ext uri="{FF2B5EF4-FFF2-40B4-BE49-F238E27FC236}">
                <a16:creationId xmlns:a16="http://schemas.microsoft.com/office/drawing/2014/main" id="{AE265F27-AD95-483F-A5BE-B181CAC42DD4}"/>
              </a:ext>
            </a:extLst>
          </p:cNvPr>
          <p:cNvSpPr>
            <a:spLocks xmlns:a="http://schemas.openxmlformats.org/drawingml/2006/main" noGrp="1"/>
          </p:cNvSpPr>
          <p:nvPr/>
        </p:nvSpPr>
        <p:spPr>
          <a:xfrm xmlns:a="http://schemas.openxmlformats.org/drawingml/2006/main">
            <a:off x="609600" y="1562100"/>
            <a:ext cx="1095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87E83"/>
                </a:solidFill>
                <a:latin typeface="Leelawadee UI"/>
                <a:ea typeface="Leelawadee UI"/>
                <a:cs typeface="Leelawadee UI"/>
              </a:defRPr>
            </a:pPr>
            <a:r>
              <a:rPr sz="2850" b="1">
                <a:solidFill>
                  <a:srgbClr val="087E83"/>
                </a:solidFill>
                <a:latin typeface="Leelawadee UI"/>
                <a:ea typeface="Leelawadee UI"/>
                <a:cs typeface="Leelawadee UI"/>
              </a:rPr>
              <a:t>Coverage สูงไม่รับประกันการตรวจพบบั๊ก</a:t>
            </a:r>
          </a:p>
        </p:txBody>
      </p:sp>
      <p:sp>
        <p:nvSpPr>
          <p:cNvPr id="4" name="">
            <a:extLst xmlns:a="http://schemas.openxmlformats.org/drawingml/2006/main">
              <a:ext uri="{FF2B5EF4-FFF2-40B4-BE49-F238E27FC236}">
                <a16:creationId xmlns:a16="http://schemas.microsoft.com/office/drawing/2014/main" id="{FA8628D9-E70B-446A-902C-91D3634E4F82}"/>
              </a:ext>
            </a:extLst>
          </p:cNvPr>
          <p:cNvSpPr>
            <a:spLocks xmlns:a="http://schemas.openxmlformats.org/drawingml/2006/main" noGrp="1"/>
          </p:cNvSpPr>
          <p:nvPr/>
        </p:nvSpPr>
        <p:spPr>
          <a:xfrm xmlns:a="http://schemas.openxmlformats.org/drawingml/2006/main">
            <a:off x="609600" y="2362200"/>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83244"/>
                </a:solidFill>
                <a:latin typeface="Leelawadee UI"/>
                <a:ea typeface="Leelawadee UI"/>
                <a:cs typeface="Leelawadee UI"/>
              </a:defRPr>
            </a:pPr>
            <a:r>
              <a:rPr sz="2475" b="0">
                <a:solidFill>
                  <a:srgbClr val="183244"/>
                </a:solidFill>
                <a:latin typeface="Leelawadee UI"/>
                <a:ea typeface="Leelawadee UI"/>
                <a:cs typeface="Leelawadee UI"/>
              </a:rPr>
              <a:t>Assertions ต้องแยก buggy และ fixed ได้</a:t>
            </a:r>
          </a:p>
        </p:txBody>
      </p:sp>
      <p:sp>
        <p:nvSpPr>
          <p:cNvPr id="5" name="">
            <a:extLst xmlns:a="http://schemas.openxmlformats.org/drawingml/2006/main">
              <a:ext uri="{FF2B5EF4-FFF2-40B4-BE49-F238E27FC236}">
                <a16:creationId xmlns:a16="http://schemas.microsoft.com/office/drawing/2014/main" id="{15A574BB-9A9A-4FFE-9A94-E2AD012C2C63}"/>
              </a:ext>
            </a:extLst>
          </p:cNvPr>
          <p:cNvSpPr>
            <a:spLocks xmlns:a="http://schemas.openxmlformats.org/drawingml/2006/main" noGrp="1"/>
          </p:cNvSpPr>
          <p:nvPr/>
        </p:nvSpPr>
        <p:spPr>
          <a:xfrm xmlns:a="http://schemas.openxmlformats.org/drawingml/2006/main">
            <a:off x="609600" y="3343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83244"/>
                </a:solidFill>
                <a:latin typeface="Leelawadee UI"/>
                <a:ea typeface="Leelawadee UI"/>
                <a:cs typeface="Leelawadee UI"/>
              </a:defRPr>
            </a:pPr>
            <a:r>
              <a:rPr sz="2400" b="0">
                <a:solidFill>
                  <a:srgbClr val="183244"/>
                </a:solidFill>
                <a:latin typeface="Leelawadee UI"/>
                <a:ea typeface="Leelawadee UI"/>
                <a:cs typeface="Leelawadee UI"/>
              </a:rPr>
              <a:t>เลือกเทคนิคโดยอ่าน FDR, compile และ suite ที่ขาดร่วมกัน</a:t>
            </a:r>
          </a:p>
        </p:txBody>
      </p:sp>
      <p:sp>
        <p:nvSpPr>
          <p:cNvPr id="6" name="">
            <a:extLst xmlns:a="http://schemas.openxmlformats.org/drawingml/2006/main">
              <a:ext uri="{FF2B5EF4-FFF2-40B4-BE49-F238E27FC236}">
                <a16:creationId xmlns:a16="http://schemas.microsoft.com/office/drawing/2014/main" id="{306FD140-FA13-4284-9D64-DEE81FCDB330}"/>
              </a:ext>
            </a:extLst>
          </p:cNvPr>
          <p:cNvSpPr>
            <a:spLocks xmlns:a="http://schemas.openxmlformats.org/drawingml/2006/main" noGrp="1"/>
          </p:cNvSpPr>
          <p:nvPr/>
        </p:nvSpPr>
        <p:spPr>
          <a:xfrm xmlns:a="http://schemas.openxmlformats.org/drawingml/2006/main">
            <a:off x="609600" y="47720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83244"/>
                </a:solidFill>
                <a:latin typeface="Leelawadee UI"/>
                <a:ea typeface="Leelawadee UI"/>
                <a:cs typeface="Leelawadee UI"/>
              </a:defRPr>
            </a:pPr>
            <a:r>
              <a:rPr sz="3000" b="1">
                <a:solidFill>
                  <a:srgbClr val="183244"/>
                </a:solidFill>
                <a:latin typeface="Leelawadee UI"/>
                <a:ea typeface="Leelawadee UI"/>
                <a:cs typeface="Leelawadee UI"/>
              </a:rPr>
              <a:t>github.com/Bigzzz0/ProjectSQA</a:t>
            </a:r>
          </a:p>
        </p:txBody>
      </p:sp>
      <p:sp>
        <p:nvSpPr>
          <p:cNvPr id="7" name="">
            <a:extLst xmlns:a="http://schemas.openxmlformats.org/drawingml/2006/main">
              <a:ext uri="{FF2B5EF4-FFF2-40B4-BE49-F238E27FC236}">
                <a16:creationId xmlns:a16="http://schemas.microsoft.com/office/drawing/2014/main" id="{3F0B1887-A992-4A96-B4B3-F67BDA2A2414}"/>
              </a:ext>
            </a:extLst>
          </p:cNvPr>
          <p:cNvSpPr>
            <a:spLocks xmlns:a="http://schemas.openxmlformats.org/drawingml/2006/main" noGrp="1"/>
          </p:cNvSpPr>
          <p:nvPr/>
        </p:nvSpPr>
        <p:spPr>
          <a:xfrm xmlns:a="http://schemas.openxmlformats.org/drawingml/2006/main">
            <a:off x="609600" y="545782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8707D"/>
                </a:solidFill>
                <a:latin typeface="Leelawadee UI"/>
                <a:ea typeface="Leelawadee UI"/>
                <a:cs typeface="Leelawadee UI"/>
              </a:defRPr>
            </a:pPr>
            <a:r>
              <a:rPr sz="2025" b="0">
                <a:solidFill>
                  <a:srgbClr val="58707D"/>
                </a:solidFill>
                <a:latin typeface="Leelawadee UI"/>
                <a:ea typeface="Leelawadee UI"/>
                <a:cs typeface="Leelawadee UI"/>
              </a:rPr>
              <a:t>รายงาน DOCX/PDF · README · Docker · source / tests</a:t>
            </a:r>
          </a:p>
          <a:p xmlns:a="http://schemas.openxmlformats.org/drawingml/2006/main">
            <a:pPr algn="l">
              <a:defRPr sz="2025" b="0">
                <a:solidFill>
                  <a:srgbClr val="58707D"/>
                </a:solidFill>
                <a:latin typeface="Leelawadee UI"/>
                <a:ea typeface="Leelawadee UI"/>
                <a:cs typeface="Leelawadee UI"/>
              </a:defRPr>
            </a:pPr>
            <a:r>
              <a:rPr sz="2025" b="0">
                <a:solidFill>
                  <a:srgbClr val="58707D"/>
                </a:solidFill>
                <a:latin typeface="Leelawadee UI"/>
                <a:ea typeface="Leelawadee UI"/>
                <a:cs typeface="Leelawadee UI"/>
              </a:rPr>
              <a:t>Prompt · configuration · master data · run logs</a:t>
            </a:r>
          </a:p>
        </p:txBody>
      </p:sp>
    </p:spTree>
    <p:extLst>
      <p:ext uri="{BB962C8B-B14F-4D97-AF65-F5344CB8AC3E}">
        <p14:creationId xmlns:p14="http://schemas.microsoft.com/office/powerpoint/2010/main" val="15751050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2026-09-30T10:31:21.3280000Z</dcterms:created>
  <dcterms:modified xsi:type="dcterms:W3CDTF">2026-09-30T10:31:21.3280000Z</dcterms:modified>
</coreProperties>
</file>